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9144000"/>
  <p:notesSz cx="6858000" cy="9144000"/>
  <p:embeddedFontLst>
    <p:embeddedFont>
      <p:font typeface="Roboto"/>
      <p:regular r:id="rId34"/>
      <p:bold r:id="rId35"/>
      <p:italic r:id="rId36"/>
      <p:boldItalic r:id="rId37"/>
    </p:embeddedFont>
    <p:embeddedFont>
      <p:font typeface="Roboto Condensed"/>
      <p:regular r:id="rId38"/>
      <p:bold r:id="rId39"/>
      <p:italic r:id="rId40"/>
      <p:boldItalic r:id="rId41"/>
    </p:embeddedFont>
    <p:embeddedFont>
      <p:font typeface="Roboto Condensed Ligh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697F61-F229-4A9E-AB43-EAB76E42D7A7}">
  <a:tblStyle styleId="{D4697F61-F229-4A9E-AB43-EAB76E42D7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Condensed-italic.fntdata"/><Relationship Id="rId20" Type="http://schemas.openxmlformats.org/officeDocument/2006/relationships/slide" Target="slides/slide14.xml"/><Relationship Id="rId42" Type="http://schemas.openxmlformats.org/officeDocument/2006/relationships/font" Target="fonts/RobotoCondensedLight-regular.fntdata"/><Relationship Id="rId41" Type="http://schemas.openxmlformats.org/officeDocument/2006/relationships/font" Target="fonts/RobotoCondensed-boldItalic.fntdata"/><Relationship Id="rId22" Type="http://schemas.openxmlformats.org/officeDocument/2006/relationships/slide" Target="slides/slide16.xml"/><Relationship Id="rId44" Type="http://schemas.openxmlformats.org/officeDocument/2006/relationships/font" Target="fonts/RobotoCondensedLight-italic.fntdata"/><Relationship Id="rId21" Type="http://schemas.openxmlformats.org/officeDocument/2006/relationships/slide" Target="slides/slide15.xml"/><Relationship Id="rId43" Type="http://schemas.openxmlformats.org/officeDocument/2006/relationships/font" Target="fonts/RobotoCondensedLight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RobotoCondensed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bold.fntdata"/><Relationship Id="rId12" Type="http://schemas.openxmlformats.org/officeDocument/2006/relationships/slide" Target="slides/slide6.xml"/><Relationship Id="rId34" Type="http://schemas.openxmlformats.org/officeDocument/2006/relationships/font" Target="fonts/Roboto-regular.fntdata"/><Relationship Id="rId15" Type="http://schemas.openxmlformats.org/officeDocument/2006/relationships/slide" Target="slides/slide9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-italic.fntdata"/><Relationship Id="rId17" Type="http://schemas.openxmlformats.org/officeDocument/2006/relationships/slide" Target="slides/slide11.xml"/><Relationship Id="rId39" Type="http://schemas.openxmlformats.org/officeDocument/2006/relationships/font" Target="fonts/RobotoCondensed-bold.fntdata"/><Relationship Id="rId16" Type="http://schemas.openxmlformats.org/officeDocument/2006/relationships/slide" Target="slides/slide10.xml"/><Relationship Id="rId38" Type="http://schemas.openxmlformats.org/officeDocument/2006/relationships/font" Target="fonts/RobotoCondense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87a38fda5_0_1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87a38fda5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87a38fda5_0_1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87a38fda5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89deaea0e_0_13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89deaea0e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89deaea0e_0_3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89deaea0e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89deaea0e_0_4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89deaea0e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89deaea0e_0_3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89deaea0e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85de3a72c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e85de3a72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89deaea0e_0_5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89deaea0e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89deaea0e_0_13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e89deaea0e_0_1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89deaea0e_0_1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e89deaea0e_0_13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1</a:t>
            </a:r>
            <a:r>
              <a:rPr b="1" lang="en-US">
                <a:solidFill>
                  <a:schemeClr val="dk1"/>
                </a:solidFill>
              </a:rPr>
              <a:t>. Flight and hotel booking age profiles are nearly identical</a:t>
            </a:r>
            <a:r>
              <a:rPr lang="en-US">
                <a:solidFill>
                  <a:schemeClr val="dk1"/>
                </a:solidFill>
              </a:rPr>
              <a:t> The distributions for flights completed and hotels completed mirror each other almost exactly, both peaking at 40–50. This means the same users are booking both — there's no meaningful segment that flies-but-doesn't-hotel or vice versa. Bundle/package promotions are likely effective across the board for the core age group.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2. Core user base is 35–55, not young adults</a:t>
            </a:r>
            <a:r>
              <a:rPr lang="en-US">
                <a:solidFill>
                  <a:schemeClr val="dk1"/>
                </a:solidFill>
              </a:rPr>
              <a:t> Age distribution peaks sharply between 40–50 with a long right tail into the 60s–70s. The 20–30 cohort is notably thin. This is a middle-aged, likely dual-income user base — pricing, UX, and perks should be calibrated for that demographic, not millennials or Gen Z.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3</a:t>
            </a:r>
            <a:r>
              <a:rPr b="1" lang="en-US">
                <a:solidFill>
                  <a:schemeClr val="dk1"/>
                </a:solidFill>
              </a:rPr>
              <a:t>. Most users are low-frequency bookers — the sweet spot is 2–4 trips</a:t>
            </a:r>
            <a:r>
              <a:rPr lang="en-US">
                <a:solidFill>
                  <a:schemeClr val="dk1"/>
                </a:solidFill>
              </a:rPr>
              <a:t> The trips booked histogram is roughly bell-shaped peaking at 3, with very few users at 0 or above 6. The platform has limited power users. Retention strategy should focus on pushing 1–2 trip users toward the 3–4 range, not chasing outliers.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4. Sign-ups are almost entirely a 2023 Q1 phenomenon</a:t>
            </a:r>
            <a:r>
              <a:rPr lang="en-US">
                <a:solidFill>
                  <a:schemeClr val="dk1"/>
                </a:solidFill>
              </a:rPr>
              <a:t> The platform had near-zero organic growth from mid-2021 through late 2022, then spiked to 5,239 sign-ups in a single quarter before collapsing again in Q2 2023. This isn't gradual growth — it's almost certainly a one-time event (a campaign, partnership, or promotion). The user base is not organically recurring.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89deaea0e_0_14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e89deaea0e_0_1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  <a:highlight>
                  <a:srgbClr val="F0F4F7"/>
                </a:highlight>
                <a:latin typeface="Calibri"/>
                <a:ea typeface="Calibri"/>
                <a:cs typeface="Calibri"/>
                <a:sym typeface="Calibri"/>
              </a:rPr>
              <a:t>Counterintuitively, our biggest spenders aren't the ones browsing the longest. The scatter plot shows that bookings above $10,000 almost exclusively happen in under 10 minutes. Long sessions correlate with indecision. So our priority should be making it as easy as possible for high-intent users to book quickly — reduce friction, not add steps.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  <a:highlight>
                  <a:srgbClr val="F0F4F7"/>
                </a:highlight>
                <a:latin typeface="Calibri"/>
                <a:ea typeface="Calibri"/>
                <a:cs typeface="Calibri"/>
                <a:sym typeface="Calibri"/>
              </a:rPr>
              <a:t>When a user books both a flight and a hotel, they spend over 7 minutes in session — far longer than any other group. This isn't just engagement, it's deliberate decision-making. These are our most valuable users, and the data suggests bundled offers are a natural upsell lever worth investing in.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200">
                <a:solidFill>
                  <a:srgbClr val="555555"/>
                </a:solidFill>
                <a:highlight>
                  <a:srgbClr val="F0F4F7"/>
                </a:highlight>
                <a:latin typeface="Calibri"/>
                <a:ea typeface="Calibri"/>
                <a:cs typeface="Calibri"/>
                <a:sym typeface="Calibri"/>
              </a:rPr>
              <a:t>Looking at our session-to-trip conversion, only 1 in 3 sessions results in a booking. That means the majority of our users are leaving without completing a trip — which is actually an opportunity. If we can close even a fraction of that gap through better onboarding or timely prompts, the revenue impact is meaningful.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89deaea0e_0_6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e89deaea0e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89deaea0e_0_5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89deaea0e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Why M Score Only for Promising &amp; At Risk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Promising Segment (High Recency, Low Frequency):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"These are my recent visitors who aren't coming back often. They could be new customers or just browsing. By checking their monetary value, I can identify: </a:t>
            </a:r>
            <a:r>
              <a:rPr i="1" lang="en-US">
                <a:solidFill>
                  <a:schemeClr val="dk1"/>
                </a:solidFill>
              </a:rPr>
              <a:t>Are these infrequent visitors actually spending well?</a:t>
            </a:r>
            <a:r>
              <a:rPr lang="en-US">
                <a:solidFill>
                  <a:schemeClr val="dk1"/>
                </a:solidFill>
              </a:rPr>
              <a:t> If yes—high-value prospects worth investing in retention. If no—emerging customers needing nurturing. The M score tells me </a:t>
            </a:r>
            <a:r>
              <a:rPr i="1" lang="en-US">
                <a:solidFill>
                  <a:schemeClr val="dk1"/>
                </a:solidFill>
              </a:rPr>
              <a:t>where to focus my acquisition and onboarding efforts.</a:t>
            </a:r>
            <a:r>
              <a:rPr lang="en-US">
                <a:solidFill>
                  <a:schemeClr val="dk1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At Risk Segment (Low Recency, Medium Frequency):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"These customers </a:t>
            </a:r>
            <a:r>
              <a:rPr i="1" lang="en-US">
                <a:solidFill>
                  <a:schemeClr val="dk1"/>
                </a:solidFill>
              </a:rPr>
              <a:t>used to visit regularly</a:t>
            </a:r>
            <a:r>
              <a:rPr lang="en-US">
                <a:solidFill>
                  <a:schemeClr val="dk1"/>
                </a:solidFill>
              </a:rPr>
              <a:t> but haven't been back in a while. This is my churn risk group. By checking their monetary value, I can prioritize: </a:t>
            </a:r>
            <a:r>
              <a:rPr i="1" lang="en-US">
                <a:solidFill>
                  <a:schemeClr val="dk1"/>
                </a:solidFill>
              </a:rPr>
              <a:t>Which at-risk customers are worth saving?</a:t>
            </a:r>
            <a:r>
              <a:rPr lang="en-US">
                <a:solidFill>
                  <a:schemeClr val="dk1"/>
                </a:solidFill>
              </a:rPr>
              <a:t> The high-value ones get immediate intervention. The lower-value ones—maybe I let them go. The M score lets me </a:t>
            </a:r>
            <a:r>
              <a:rPr i="1" lang="en-US">
                <a:solidFill>
                  <a:schemeClr val="dk1"/>
                </a:solidFill>
              </a:rPr>
              <a:t>predict churn impact and allocate retention budget intelligently.</a:t>
            </a:r>
            <a:r>
              <a:rPr lang="en-US">
                <a:solidFill>
                  <a:schemeClr val="dk1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Why Not Other Segments?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Champions, Loyal, Need Attention, Do Not Lose—their R+F combination already tells the full story. M score adds nothing actionable there. But for these two edge cases, monetary value fundamentally changes your strategy.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85de3a72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e85de3a7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Champions, Loyal Customers, and Do Not Lose dominate both charts - high purchase frequency directly correlates with revenue. This validates R+F as your primary segmentation drivers.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en-US" sz="1200">
                <a:solidFill>
                  <a:schemeClr val="dk1"/>
                </a:solidFill>
              </a:rPr>
              <a:t>At Risk (High Value): </a:t>
            </a:r>
            <a:r>
              <a:rPr lang="en-US" sz="1200">
                <a:solidFill>
                  <a:schemeClr val="dk1"/>
                </a:solidFill>
              </a:rPr>
              <a:t>Revenue per frequency unit: $1.58M ÷ 1,444 = </a:t>
            </a:r>
            <a:r>
              <a:rPr b="1" lang="en-US" sz="1200">
                <a:solidFill>
                  <a:schemeClr val="dk1"/>
                </a:solidFill>
              </a:rPr>
              <a:t>$1,094 per unit WHILE Loyal Customers:</a:t>
            </a:r>
            <a:r>
              <a:rPr lang="en-US" sz="1200">
                <a:solidFill>
                  <a:schemeClr val="dk1"/>
                </a:solidFill>
              </a:rPr>
              <a:t>Revenue per frequency unit: $2.85M ÷ 3,156 = </a:t>
            </a:r>
            <a:r>
              <a:rPr b="1" lang="en-US" sz="1200">
                <a:solidFill>
                  <a:schemeClr val="dk1"/>
                </a:solidFill>
              </a:rPr>
              <a:t>$902 per unit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The insight:</a:t>
            </a:r>
            <a:r>
              <a:rPr lang="en-US" sz="1200">
                <a:solidFill>
                  <a:schemeClr val="dk1"/>
                </a:solidFill>
              </a:rPr>
              <a:t> At Risk (High Value) generates </a:t>
            </a:r>
            <a:r>
              <a:rPr b="1" lang="en-US" sz="1200">
                <a:solidFill>
                  <a:schemeClr val="dk1"/>
                </a:solidFill>
              </a:rPr>
              <a:t>$192 more per frequency unit</a:t>
            </a:r>
            <a:r>
              <a:rPr lang="en-US" sz="1200">
                <a:solidFill>
                  <a:schemeClr val="dk1"/>
                </a:solidFill>
              </a:rPr>
              <a:t> than Loyal Customers. They're higher-value customers who just happen to visit less frequently. </a:t>
            </a:r>
            <a:r>
              <a:rPr b="1" lang="en-US" sz="1200">
                <a:solidFill>
                  <a:schemeClr val="dk1"/>
                </a:solidFill>
              </a:rPr>
              <a:t>Translation:</a:t>
            </a:r>
            <a:r>
              <a:rPr lang="en-US" sz="1200">
                <a:solidFill>
                  <a:schemeClr val="dk1"/>
                </a:solidFill>
              </a:rPr>
              <a:t> If you retain one At Risk (High Value) customer, you're protecting more revenue per customer than a typical Loyal Customer. This confirms they deserve priority intervention.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2,278 purchases but declining recency = $2.09M at risk. This is your second-largest revenue pool disappearing. Urgent intervention needed.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Despite only 373 purchases, they're generating $0.16M. This proves your hypothesis: </a:t>
            </a:r>
            <a:r>
              <a:rPr i="1" lang="en-US" sz="1200">
                <a:solidFill>
                  <a:schemeClr val="dk1"/>
                </a:solidFill>
              </a:rPr>
              <a:t>recent + low frequency can still mean value</a:t>
            </a:r>
            <a:r>
              <a:rPr lang="en-US" sz="1200">
                <a:solidFill>
                  <a:schemeClr val="dk1"/>
                </a:solidFill>
              </a:rPr>
              <a:t>. These are likely high-ticket or new high-value customers—nurture them.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</a:rPr>
              <a:t> Promising (Growth), At Risk, About to Sleep, Hibernating = $1.07M combined (18% of total). Don't over-invest here; focus on saving Do Not Lose and At Risk (High Value) first.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52" name="Google Shape;4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89deaea0e_0_5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e89deaea0e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Thought process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635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Thought process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76200" marR="3048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PPT Script:</a:t>
            </a:r>
            <a:endParaRPr b="1"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76200" marR="3048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"Looking at lifetime value per customer reveals a completely different story than volume alone. Promising High-Value customers have the highest average value at $5,385 per person—even though they represent the smallest segment. This validates our premium nurturing approach.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76200" marR="3048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Do Not Lose is critical because these customers have nearly the same per-customer value as Champions at $4,011—they're not low-value churn; they're high-value customers who've gone inactive. That's why our 16% win-back discount is justified.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76200" marR="3048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At Risk High-Value shows the same pattern. Despite their low visit frequency, each customer is worth $3,012. Spending 22% to retain them is a smart investment.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76200" marR="3048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However, Potential Champions underperform. They have the same visit frequency as Need Attention but generate less value per customer. This suggests they're visiting without spending—they need a different strategy focused on monetization, not just frequency.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76200" marR="3048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bottom segments—Hibernating, Promising Growth, and At Risk—all fall below $1,600 per customer, confirming our decision to minimize investment there.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76200" marR="3048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 key lesson: frequency doesn't equal value. Customer quality—how much they spend per visit—is what drives priority."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89deaea0e_0_5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e89deaea0e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89deaea0e_0_4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e89deaea0e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89deaea0e_0_4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e89deaea0e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Highest LTV, despite fewer purchases generates 10% revenue of At Risk (High Value) segment - These are likely high-ticket or new high-value customers</a:t>
            </a:r>
            <a:endParaRPr/>
          </a:p>
        </p:txBody>
      </p:sp>
      <p:sp>
        <p:nvSpPr>
          <p:cNvPr id="531" name="Google Shape;5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89deaea0e_0_1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e89deaea0e_0_14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57200" y="32004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Customer Segmentation with RFM analysis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TravelTide Customer Analytics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57200" y="502920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STAR-</a:t>
            </a:r>
            <a:r>
              <a:rPr i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4"/>
          <p:cNvGrpSpPr/>
          <p:nvPr/>
        </p:nvGrpSpPr>
        <p:grpSpPr>
          <a:xfrm>
            <a:off x="822840" y="1413019"/>
            <a:ext cx="7634640" cy="4031968"/>
            <a:chOff x="1156223" y="731936"/>
            <a:chExt cx="6955758" cy="3673440"/>
          </a:xfrm>
        </p:grpSpPr>
        <p:sp>
          <p:nvSpPr>
            <p:cNvPr id="92" name="Google Shape;92;p14"/>
            <p:cNvSpPr/>
            <p:nvPr/>
          </p:nvSpPr>
          <p:spPr>
            <a:xfrm>
              <a:off x="1156223" y="748037"/>
              <a:ext cx="1539600" cy="12978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6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1156227" y="7480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01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94" name="Google Shape;94;p14"/>
            <p:cNvSpPr txBox="1"/>
            <p:nvPr/>
          </p:nvSpPr>
          <p:spPr>
            <a:xfrm>
              <a:off x="1156227" y="1085539"/>
              <a:ext cx="1539600" cy="4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Situation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1156227" y="2322561"/>
              <a:ext cx="1539600" cy="20715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6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156234" y="2333970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02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156227" y="3245839"/>
              <a:ext cx="15396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Task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2903702" y="1702714"/>
              <a:ext cx="1539600" cy="26913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2907637" y="1702716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03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2903677" y="2980139"/>
              <a:ext cx="1539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5"/>
                <a:buFont typeface="Arial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Actions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4651636" y="732511"/>
              <a:ext cx="1553059" cy="1329452"/>
            </a:xfrm>
            <a:custGeom>
              <a:rect b="b" l="l" r="r" t="t"/>
              <a:pathLst>
                <a:path extrusionOk="0" h="79087" w="92389">
                  <a:moveTo>
                    <a:pt x="5805" y="0"/>
                  </a:moveTo>
                  <a:lnTo>
                    <a:pt x="4596" y="121"/>
                  </a:lnTo>
                  <a:lnTo>
                    <a:pt x="3507" y="484"/>
                  </a:lnTo>
                  <a:lnTo>
                    <a:pt x="2540" y="1088"/>
                  </a:lnTo>
                  <a:lnTo>
                    <a:pt x="1693" y="1814"/>
                  </a:lnTo>
                  <a:lnTo>
                    <a:pt x="968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1" y="5804"/>
                  </a:lnTo>
                  <a:lnTo>
                    <a:pt x="1" y="73282"/>
                  </a:lnTo>
                  <a:lnTo>
                    <a:pt x="121" y="74491"/>
                  </a:lnTo>
                  <a:lnTo>
                    <a:pt x="484" y="75579"/>
                  </a:lnTo>
                  <a:lnTo>
                    <a:pt x="968" y="76547"/>
                  </a:lnTo>
                  <a:lnTo>
                    <a:pt x="1693" y="77393"/>
                  </a:lnTo>
                  <a:lnTo>
                    <a:pt x="2540" y="78119"/>
                  </a:lnTo>
                  <a:lnTo>
                    <a:pt x="3507" y="78602"/>
                  </a:lnTo>
                  <a:lnTo>
                    <a:pt x="4596" y="78965"/>
                  </a:lnTo>
                  <a:lnTo>
                    <a:pt x="5805" y="79086"/>
                  </a:lnTo>
                  <a:lnTo>
                    <a:pt x="86584" y="79086"/>
                  </a:lnTo>
                  <a:lnTo>
                    <a:pt x="87672" y="78965"/>
                  </a:lnTo>
                  <a:lnTo>
                    <a:pt x="88761" y="78602"/>
                  </a:lnTo>
                  <a:lnTo>
                    <a:pt x="89849" y="78119"/>
                  </a:lnTo>
                  <a:lnTo>
                    <a:pt x="90696" y="77393"/>
                  </a:lnTo>
                  <a:lnTo>
                    <a:pt x="91421" y="76547"/>
                  </a:lnTo>
                  <a:lnTo>
                    <a:pt x="91905" y="75579"/>
                  </a:lnTo>
                  <a:lnTo>
                    <a:pt x="92268" y="74491"/>
                  </a:lnTo>
                  <a:lnTo>
                    <a:pt x="92389" y="73282"/>
                  </a:lnTo>
                  <a:lnTo>
                    <a:pt x="92389" y="34827"/>
                  </a:lnTo>
                  <a:lnTo>
                    <a:pt x="4776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4653252" y="7319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04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4651180" y="1404870"/>
              <a:ext cx="1553100" cy="463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Exploratory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Data Analysis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921900" y="737891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 rot="8100000">
              <a:off x="5998817" y="906557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" name="Google Shape;106;p14"/>
            <p:cNvSpPr/>
            <p:nvPr/>
          </p:nvSpPr>
          <p:spPr>
            <a:xfrm flipH="1" rot="-2700000">
              <a:off x="5954439" y="86609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07" name="Google Shape;107;p14"/>
            <p:cNvCxnSpPr/>
            <p:nvPr/>
          </p:nvCxnSpPr>
          <p:spPr>
            <a:xfrm flipH="1" rot="8100000">
              <a:off x="5955415" y="875131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" name="Google Shape;108;p14"/>
            <p:cNvSpPr/>
            <p:nvPr/>
          </p:nvSpPr>
          <p:spPr>
            <a:xfrm>
              <a:off x="5476232" y="731936"/>
              <a:ext cx="750113" cy="585442"/>
            </a:xfrm>
            <a:custGeom>
              <a:rect b="b" l="l" r="r" t="t"/>
              <a:pathLst>
                <a:path extrusionOk="0" h="34827" w="44623">
                  <a:moveTo>
                    <a:pt x="44623" y="3482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4663473" y="2333963"/>
              <a:ext cx="1551025" cy="2071412"/>
            </a:xfrm>
            <a:custGeom>
              <a:rect b="b" l="l" r="r" t="t"/>
              <a:pathLst>
                <a:path extrusionOk="0" h="123225" w="92268">
                  <a:moveTo>
                    <a:pt x="5805" y="0"/>
                  </a:moveTo>
                  <a:lnTo>
                    <a:pt x="4596" y="121"/>
                  </a:lnTo>
                  <a:lnTo>
                    <a:pt x="3508" y="363"/>
                  </a:lnTo>
                  <a:lnTo>
                    <a:pt x="2540" y="968"/>
                  </a:lnTo>
                  <a:lnTo>
                    <a:pt x="1694" y="1693"/>
                  </a:lnTo>
                  <a:lnTo>
                    <a:pt x="968" y="2540"/>
                  </a:lnTo>
                  <a:lnTo>
                    <a:pt x="364" y="3507"/>
                  </a:lnTo>
                  <a:lnTo>
                    <a:pt x="1" y="4596"/>
                  </a:lnTo>
                  <a:lnTo>
                    <a:pt x="1" y="5805"/>
                  </a:lnTo>
                  <a:lnTo>
                    <a:pt x="1" y="117420"/>
                  </a:lnTo>
                  <a:lnTo>
                    <a:pt x="1" y="118630"/>
                  </a:lnTo>
                  <a:lnTo>
                    <a:pt x="364" y="119718"/>
                  </a:lnTo>
                  <a:lnTo>
                    <a:pt x="968" y="120685"/>
                  </a:lnTo>
                  <a:lnTo>
                    <a:pt x="1694" y="121532"/>
                  </a:lnTo>
                  <a:lnTo>
                    <a:pt x="2540" y="122257"/>
                  </a:lnTo>
                  <a:lnTo>
                    <a:pt x="3508" y="122741"/>
                  </a:lnTo>
                  <a:lnTo>
                    <a:pt x="4596" y="123104"/>
                  </a:lnTo>
                  <a:lnTo>
                    <a:pt x="5805" y="123225"/>
                  </a:lnTo>
                  <a:lnTo>
                    <a:pt x="86464" y="123225"/>
                  </a:lnTo>
                  <a:lnTo>
                    <a:pt x="87673" y="123104"/>
                  </a:lnTo>
                  <a:lnTo>
                    <a:pt x="88761" y="122741"/>
                  </a:lnTo>
                  <a:lnTo>
                    <a:pt x="89729" y="122257"/>
                  </a:lnTo>
                  <a:lnTo>
                    <a:pt x="90575" y="121532"/>
                  </a:lnTo>
                  <a:lnTo>
                    <a:pt x="91301" y="120685"/>
                  </a:lnTo>
                  <a:lnTo>
                    <a:pt x="91905" y="119718"/>
                  </a:lnTo>
                  <a:lnTo>
                    <a:pt x="92147" y="118630"/>
                  </a:lnTo>
                  <a:lnTo>
                    <a:pt x="92268" y="117420"/>
                  </a:lnTo>
                  <a:lnTo>
                    <a:pt x="92268" y="34706"/>
                  </a:lnTo>
                  <a:lnTo>
                    <a:pt x="4764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4663474" y="2333952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05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4663477" y="3245839"/>
              <a:ext cx="15531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Customer Segmentation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5951888" y="2343205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 rot="8100000">
              <a:off x="6028805" y="251187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" name="Google Shape;114;p14"/>
            <p:cNvSpPr/>
            <p:nvPr/>
          </p:nvSpPr>
          <p:spPr>
            <a:xfrm flipH="1" rot="-2700000">
              <a:off x="5984426" y="2471406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15" name="Google Shape;115;p14"/>
            <p:cNvCxnSpPr/>
            <p:nvPr/>
          </p:nvCxnSpPr>
          <p:spPr>
            <a:xfrm flipH="1" rot="8100000">
              <a:off x="5985402" y="2480445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" name="Google Shape;116;p14"/>
            <p:cNvSpPr/>
            <p:nvPr/>
          </p:nvSpPr>
          <p:spPr>
            <a:xfrm>
              <a:off x="6434658" y="1713970"/>
              <a:ext cx="1677322" cy="2691399"/>
            </a:xfrm>
            <a:custGeom>
              <a:rect b="b" l="l" r="r" t="t"/>
              <a:pathLst>
                <a:path extrusionOk="0" h="160107" w="92389">
                  <a:moveTo>
                    <a:pt x="5804" y="0"/>
                  </a:moveTo>
                  <a:lnTo>
                    <a:pt x="4716" y="121"/>
                  </a:lnTo>
                  <a:lnTo>
                    <a:pt x="3628" y="484"/>
                  </a:lnTo>
                  <a:lnTo>
                    <a:pt x="2539" y="1088"/>
                  </a:lnTo>
                  <a:lnTo>
                    <a:pt x="1693" y="1814"/>
                  </a:lnTo>
                  <a:lnTo>
                    <a:pt x="967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0" y="5804"/>
                  </a:lnTo>
                  <a:lnTo>
                    <a:pt x="0" y="154303"/>
                  </a:lnTo>
                  <a:lnTo>
                    <a:pt x="121" y="155512"/>
                  </a:lnTo>
                  <a:lnTo>
                    <a:pt x="484" y="156600"/>
                  </a:lnTo>
                  <a:lnTo>
                    <a:pt x="967" y="157568"/>
                  </a:lnTo>
                  <a:lnTo>
                    <a:pt x="1693" y="158414"/>
                  </a:lnTo>
                  <a:lnTo>
                    <a:pt x="2539" y="159140"/>
                  </a:lnTo>
                  <a:lnTo>
                    <a:pt x="3628" y="159744"/>
                  </a:lnTo>
                  <a:lnTo>
                    <a:pt x="4716" y="159986"/>
                  </a:lnTo>
                  <a:lnTo>
                    <a:pt x="5804" y="160107"/>
                  </a:lnTo>
                  <a:lnTo>
                    <a:pt x="86584" y="160107"/>
                  </a:lnTo>
                  <a:lnTo>
                    <a:pt x="87793" y="159986"/>
                  </a:lnTo>
                  <a:lnTo>
                    <a:pt x="88881" y="159744"/>
                  </a:lnTo>
                  <a:lnTo>
                    <a:pt x="89849" y="159140"/>
                  </a:lnTo>
                  <a:lnTo>
                    <a:pt x="90695" y="158414"/>
                  </a:lnTo>
                  <a:lnTo>
                    <a:pt x="91421" y="157568"/>
                  </a:lnTo>
                  <a:lnTo>
                    <a:pt x="91904" y="156600"/>
                  </a:lnTo>
                  <a:lnTo>
                    <a:pt x="92267" y="155512"/>
                  </a:lnTo>
                  <a:lnTo>
                    <a:pt x="92388" y="154303"/>
                  </a:lnTo>
                  <a:lnTo>
                    <a:pt x="92388" y="34827"/>
                  </a:lnTo>
                  <a:lnTo>
                    <a:pt x="4776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17" name="Google Shape;117;p14"/>
            <p:cNvSpPr txBox="1"/>
            <p:nvPr/>
          </p:nvSpPr>
          <p:spPr>
            <a:xfrm>
              <a:off x="6434674" y="1713991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06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6434681" y="3252053"/>
              <a:ext cx="16773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Recommendations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7728538" y="1691357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 rot="8100000">
              <a:off x="7805455" y="1860023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1" name="Google Shape;121;p14"/>
            <p:cNvSpPr/>
            <p:nvPr/>
          </p:nvSpPr>
          <p:spPr>
            <a:xfrm flipH="1" rot="-2700000">
              <a:off x="7761076" y="1819558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22" name="Google Shape;122;p14"/>
            <p:cNvCxnSpPr/>
            <p:nvPr/>
          </p:nvCxnSpPr>
          <p:spPr>
            <a:xfrm flipH="1" rot="8100000">
              <a:off x="7762052" y="1828597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5"/>
          <p:cNvGrpSpPr/>
          <p:nvPr/>
        </p:nvGrpSpPr>
        <p:grpSpPr>
          <a:xfrm>
            <a:off x="822840" y="1430691"/>
            <a:ext cx="1689869" cy="1424465"/>
            <a:chOff x="1156223" y="748037"/>
            <a:chExt cx="1539603" cy="1297800"/>
          </a:xfrm>
        </p:grpSpPr>
        <p:sp>
          <p:nvSpPr>
            <p:cNvPr id="128" name="Google Shape;128;p15"/>
            <p:cNvSpPr/>
            <p:nvPr/>
          </p:nvSpPr>
          <p:spPr>
            <a:xfrm>
              <a:off x="1156223" y="748037"/>
              <a:ext cx="1539600" cy="12978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6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1156227" y="7480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01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1156227" y="1085539"/>
              <a:ext cx="1539600" cy="4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Situation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457200" y="1164950"/>
            <a:ext cx="7877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About the client </a:t>
            </a:r>
            <a:endParaRPr b="1" i="1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TravelTide is an E-booking Startup, founded 2021 that offers best-in-class Travel Inventory &amp; Search</a:t>
            </a:r>
            <a:endParaRPr sz="11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457200" y="2039438"/>
            <a:ext cx="787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Stakeholders</a:t>
            </a:r>
            <a:endParaRPr b="1" i="1" sz="12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Kevin Talanick (CEO): Improve retention via data-backed marketing</a:t>
            </a:r>
            <a:endParaRPr sz="11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Elena Tarrant (Head of Marketing): Design personalized rewards program</a:t>
            </a:r>
            <a:endParaRPr sz="11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457200" y="2913950"/>
            <a:ext cx="787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1" i="1" sz="12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Kevin Talanick (CEO): Improve retention via data-backed marketing</a:t>
            </a:r>
            <a:endParaRPr sz="11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Elena Tarrant (Head of Marketing): Design personalized rewards program</a:t>
            </a:r>
            <a:endParaRPr sz="11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457200" y="3657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Context &amp; Overview</a:t>
            </a:r>
            <a:endParaRPr b="1" sz="16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457200" y="36576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KPIs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57200" y="86868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Data Overview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457200" y="1280160"/>
            <a:ext cx="1920240" cy="109728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457200" y="14630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5,998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57200" y="1965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Total Customers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2560320" y="1280160"/>
            <a:ext cx="1920240" cy="109728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2560320" y="14630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$1,758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2560320" y="1965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Avg Spending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4663440" y="1280160"/>
            <a:ext cx="1920240" cy="109728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4663440" y="14630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2.6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63440" y="1965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Avg Trips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766559" y="1280160"/>
            <a:ext cx="1920240" cy="109728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766559" y="146304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8.2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66559" y="19659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Avg Sessions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Dataset Composition: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17 behavioral, demographic, and transactional features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Geographic coverage: USA-based customers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40080" y="3749039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Data collection period: Recent booking activity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40080" y="4069079"/>
            <a:ext cx="786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Clean data: 0 missing values, 0 negative values</a:t>
            </a: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ready for analysis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8"/>
          <p:cNvGrpSpPr/>
          <p:nvPr/>
        </p:nvGrpSpPr>
        <p:grpSpPr>
          <a:xfrm>
            <a:off x="822840" y="1413019"/>
            <a:ext cx="7634640" cy="4031968"/>
            <a:chOff x="1156223" y="731936"/>
            <a:chExt cx="6955758" cy="3673440"/>
          </a:xfrm>
        </p:grpSpPr>
        <p:sp>
          <p:nvSpPr>
            <p:cNvPr id="167" name="Google Shape;167;p18"/>
            <p:cNvSpPr/>
            <p:nvPr/>
          </p:nvSpPr>
          <p:spPr>
            <a:xfrm>
              <a:off x="1156223" y="748037"/>
              <a:ext cx="1539600" cy="12978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6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1156227" y="7480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01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1156227" y="1085539"/>
              <a:ext cx="1539600" cy="4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Situation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1156227" y="2322561"/>
              <a:ext cx="1539600" cy="20715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6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1156234" y="2333970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02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1156227" y="3245839"/>
              <a:ext cx="15396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Task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2903702" y="1702714"/>
              <a:ext cx="1539600" cy="26913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2907637" y="1702716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03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2903677" y="2980139"/>
              <a:ext cx="1539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5"/>
                <a:buFont typeface="Arial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Actions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4651636" y="732511"/>
              <a:ext cx="1553059" cy="1329452"/>
            </a:xfrm>
            <a:custGeom>
              <a:rect b="b" l="l" r="r" t="t"/>
              <a:pathLst>
                <a:path extrusionOk="0" h="79087" w="92389">
                  <a:moveTo>
                    <a:pt x="5805" y="0"/>
                  </a:moveTo>
                  <a:lnTo>
                    <a:pt x="4596" y="121"/>
                  </a:lnTo>
                  <a:lnTo>
                    <a:pt x="3507" y="484"/>
                  </a:lnTo>
                  <a:lnTo>
                    <a:pt x="2540" y="1088"/>
                  </a:lnTo>
                  <a:lnTo>
                    <a:pt x="1693" y="1814"/>
                  </a:lnTo>
                  <a:lnTo>
                    <a:pt x="968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1" y="5804"/>
                  </a:lnTo>
                  <a:lnTo>
                    <a:pt x="1" y="73282"/>
                  </a:lnTo>
                  <a:lnTo>
                    <a:pt x="121" y="74491"/>
                  </a:lnTo>
                  <a:lnTo>
                    <a:pt x="484" y="75579"/>
                  </a:lnTo>
                  <a:lnTo>
                    <a:pt x="968" y="76547"/>
                  </a:lnTo>
                  <a:lnTo>
                    <a:pt x="1693" y="77393"/>
                  </a:lnTo>
                  <a:lnTo>
                    <a:pt x="2540" y="78119"/>
                  </a:lnTo>
                  <a:lnTo>
                    <a:pt x="3507" y="78602"/>
                  </a:lnTo>
                  <a:lnTo>
                    <a:pt x="4596" y="78965"/>
                  </a:lnTo>
                  <a:lnTo>
                    <a:pt x="5805" y="79086"/>
                  </a:lnTo>
                  <a:lnTo>
                    <a:pt x="86584" y="79086"/>
                  </a:lnTo>
                  <a:lnTo>
                    <a:pt x="87672" y="78965"/>
                  </a:lnTo>
                  <a:lnTo>
                    <a:pt x="88761" y="78602"/>
                  </a:lnTo>
                  <a:lnTo>
                    <a:pt x="89849" y="78119"/>
                  </a:lnTo>
                  <a:lnTo>
                    <a:pt x="90696" y="77393"/>
                  </a:lnTo>
                  <a:lnTo>
                    <a:pt x="91421" y="76547"/>
                  </a:lnTo>
                  <a:lnTo>
                    <a:pt x="91905" y="75579"/>
                  </a:lnTo>
                  <a:lnTo>
                    <a:pt x="92268" y="74491"/>
                  </a:lnTo>
                  <a:lnTo>
                    <a:pt x="92389" y="73282"/>
                  </a:lnTo>
                  <a:lnTo>
                    <a:pt x="92389" y="34827"/>
                  </a:lnTo>
                  <a:lnTo>
                    <a:pt x="4776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4653252" y="7319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04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4651180" y="1404870"/>
              <a:ext cx="1553100" cy="463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Exploratory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Data Analysis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921900" y="737891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 rot="8100000">
              <a:off x="5998817" y="906557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1" name="Google Shape;181;p18"/>
            <p:cNvSpPr/>
            <p:nvPr/>
          </p:nvSpPr>
          <p:spPr>
            <a:xfrm flipH="1" rot="-2700000">
              <a:off x="5954439" y="86609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82" name="Google Shape;182;p18"/>
            <p:cNvCxnSpPr/>
            <p:nvPr/>
          </p:nvCxnSpPr>
          <p:spPr>
            <a:xfrm flipH="1" rot="8100000">
              <a:off x="5955415" y="875131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" name="Google Shape;183;p18"/>
            <p:cNvSpPr/>
            <p:nvPr/>
          </p:nvSpPr>
          <p:spPr>
            <a:xfrm>
              <a:off x="5476232" y="731936"/>
              <a:ext cx="750113" cy="585442"/>
            </a:xfrm>
            <a:custGeom>
              <a:rect b="b" l="l" r="r" t="t"/>
              <a:pathLst>
                <a:path extrusionOk="0" h="34827" w="44623">
                  <a:moveTo>
                    <a:pt x="44623" y="3482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4663473" y="2333963"/>
              <a:ext cx="1551025" cy="2071412"/>
            </a:xfrm>
            <a:custGeom>
              <a:rect b="b" l="l" r="r" t="t"/>
              <a:pathLst>
                <a:path extrusionOk="0" h="123225" w="92268">
                  <a:moveTo>
                    <a:pt x="5805" y="0"/>
                  </a:moveTo>
                  <a:lnTo>
                    <a:pt x="4596" y="121"/>
                  </a:lnTo>
                  <a:lnTo>
                    <a:pt x="3508" y="363"/>
                  </a:lnTo>
                  <a:lnTo>
                    <a:pt x="2540" y="968"/>
                  </a:lnTo>
                  <a:lnTo>
                    <a:pt x="1694" y="1693"/>
                  </a:lnTo>
                  <a:lnTo>
                    <a:pt x="968" y="2540"/>
                  </a:lnTo>
                  <a:lnTo>
                    <a:pt x="364" y="3507"/>
                  </a:lnTo>
                  <a:lnTo>
                    <a:pt x="1" y="4596"/>
                  </a:lnTo>
                  <a:lnTo>
                    <a:pt x="1" y="5805"/>
                  </a:lnTo>
                  <a:lnTo>
                    <a:pt x="1" y="117420"/>
                  </a:lnTo>
                  <a:lnTo>
                    <a:pt x="1" y="118630"/>
                  </a:lnTo>
                  <a:lnTo>
                    <a:pt x="364" y="119718"/>
                  </a:lnTo>
                  <a:lnTo>
                    <a:pt x="968" y="120685"/>
                  </a:lnTo>
                  <a:lnTo>
                    <a:pt x="1694" y="121532"/>
                  </a:lnTo>
                  <a:lnTo>
                    <a:pt x="2540" y="122257"/>
                  </a:lnTo>
                  <a:lnTo>
                    <a:pt x="3508" y="122741"/>
                  </a:lnTo>
                  <a:lnTo>
                    <a:pt x="4596" y="123104"/>
                  </a:lnTo>
                  <a:lnTo>
                    <a:pt x="5805" y="123225"/>
                  </a:lnTo>
                  <a:lnTo>
                    <a:pt x="86464" y="123225"/>
                  </a:lnTo>
                  <a:lnTo>
                    <a:pt x="87673" y="123104"/>
                  </a:lnTo>
                  <a:lnTo>
                    <a:pt x="88761" y="122741"/>
                  </a:lnTo>
                  <a:lnTo>
                    <a:pt x="89729" y="122257"/>
                  </a:lnTo>
                  <a:lnTo>
                    <a:pt x="90575" y="121532"/>
                  </a:lnTo>
                  <a:lnTo>
                    <a:pt x="91301" y="120685"/>
                  </a:lnTo>
                  <a:lnTo>
                    <a:pt x="91905" y="119718"/>
                  </a:lnTo>
                  <a:lnTo>
                    <a:pt x="92147" y="118630"/>
                  </a:lnTo>
                  <a:lnTo>
                    <a:pt x="92268" y="117420"/>
                  </a:lnTo>
                  <a:lnTo>
                    <a:pt x="92268" y="34706"/>
                  </a:lnTo>
                  <a:lnTo>
                    <a:pt x="4764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4663474" y="2333952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05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4663477" y="3245839"/>
              <a:ext cx="15531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Customer Segmentation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5951888" y="2343205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 rot="8100000">
              <a:off x="6028805" y="251187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9" name="Google Shape;189;p18"/>
            <p:cNvSpPr/>
            <p:nvPr/>
          </p:nvSpPr>
          <p:spPr>
            <a:xfrm flipH="1" rot="-2700000">
              <a:off x="5984426" y="2471406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90" name="Google Shape;190;p18"/>
            <p:cNvCxnSpPr/>
            <p:nvPr/>
          </p:nvCxnSpPr>
          <p:spPr>
            <a:xfrm flipH="1" rot="8100000">
              <a:off x="5985402" y="2480445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" name="Google Shape;191;p18"/>
            <p:cNvSpPr/>
            <p:nvPr/>
          </p:nvSpPr>
          <p:spPr>
            <a:xfrm>
              <a:off x="6434658" y="1713970"/>
              <a:ext cx="1677322" cy="2691399"/>
            </a:xfrm>
            <a:custGeom>
              <a:rect b="b" l="l" r="r" t="t"/>
              <a:pathLst>
                <a:path extrusionOk="0" h="160107" w="92389">
                  <a:moveTo>
                    <a:pt x="5804" y="0"/>
                  </a:moveTo>
                  <a:lnTo>
                    <a:pt x="4716" y="121"/>
                  </a:lnTo>
                  <a:lnTo>
                    <a:pt x="3628" y="484"/>
                  </a:lnTo>
                  <a:lnTo>
                    <a:pt x="2539" y="1088"/>
                  </a:lnTo>
                  <a:lnTo>
                    <a:pt x="1693" y="1814"/>
                  </a:lnTo>
                  <a:lnTo>
                    <a:pt x="967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0" y="5804"/>
                  </a:lnTo>
                  <a:lnTo>
                    <a:pt x="0" y="154303"/>
                  </a:lnTo>
                  <a:lnTo>
                    <a:pt x="121" y="155512"/>
                  </a:lnTo>
                  <a:lnTo>
                    <a:pt x="484" y="156600"/>
                  </a:lnTo>
                  <a:lnTo>
                    <a:pt x="967" y="157568"/>
                  </a:lnTo>
                  <a:lnTo>
                    <a:pt x="1693" y="158414"/>
                  </a:lnTo>
                  <a:lnTo>
                    <a:pt x="2539" y="159140"/>
                  </a:lnTo>
                  <a:lnTo>
                    <a:pt x="3628" y="159744"/>
                  </a:lnTo>
                  <a:lnTo>
                    <a:pt x="4716" y="159986"/>
                  </a:lnTo>
                  <a:lnTo>
                    <a:pt x="5804" y="160107"/>
                  </a:lnTo>
                  <a:lnTo>
                    <a:pt x="86584" y="160107"/>
                  </a:lnTo>
                  <a:lnTo>
                    <a:pt x="87793" y="159986"/>
                  </a:lnTo>
                  <a:lnTo>
                    <a:pt x="88881" y="159744"/>
                  </a:lnTo>
                  <a:lnTo>
                    <a:pt x="89849" y="159140"/>
                  </a:lnTo>
                  <a:lnTo>
                    <a:pt x="90695" y="158414"/>
                  </a:lnTo>
                  <a:lnTo>
                    <a:pt x="91421" y="157568"/>
                  </a:lnTo>
                  <a:lnTo>
                    <a:pt x="91904" y="156600"/>
                  </a:lnTo>
                  <a:lnTo>
                    <a:pt x="92267" y="155512"/>
                  </a:lnTo>
                  <a:lnTo>
                    <a:pt x="92388" y="154303"/>
                  </a:lnTo>
                  <a:lnTo>
                    <a:pt x="92388" y="34827"/>
                  </a:lnTo>
                  <a:lnTo>
                    <a:pt x="4776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6434674" y="1713991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06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6434681" y="3252053"/>
              <a:ext cx="16773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Recommendations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7728538" y="1691357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 rot="8100000">
              <a:off x="7805455" y="1860023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6" name="Google Shape;196;p18"/>
            <p:cNvSpPr/>
            <p:nvPr/>
          </p:nvSpPr>
          <p:spPr>
            <a:xfrm flipH="1" rot="-2700000">
              <a:off x="7761076" y="1819558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97" name="Google Shape;197;p18"/>
            <p:cNvCxnSpPr/>
            <p:nvPr/>
          </p:nvCxnSpPr>
          <p:spPr>
            <a:xfrm flipH="1" rot="8100000">
              <a:off x="7762052" y="1828597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/>
          <p:nvPr/>
        </p:nvSpPr>
        <p:spPr>
          <a:xfrm>
            <a:off x="822844" y="3158889"/>
            <a:ext cx="1689900" cy="2273700"/>
          </a:xfrm>
          <a:prstGeom prst="roundRect">
            <a:avLst>
              <a:gd fmla="val 6689" name="adj"/>
            </a:avLst>
          </a:prstGeom>
          <a:solidFill>
            <a:schemeClr val="dk2"/>
          </a:solidFill>
          <a:ln cap="flat" cmpd="sng" w="104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375" lIns="100375" spcFirstLastPara="1" rIns="100375" wrap="square" tIns="100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6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203" name="Google Shape;203;p19"/>
          <p:cNvGrpSpPr/>
          <p:nvPr/>
        </p:nvGrpSpPr>
        <p:grpSpPr>
          <a:xfrm>
            <a:off x="822844" y="3171411"/>
            <a:ext cx="1689865" cy="1691697"/>
            <a:chOff x="1156227" y="2333970"/>
            <a:chExt cx="1539600" cy="1541270"/>
          </a:xfrm>
        </p:grpSpPr>
        <p:sp>
          <p:nvSpPr>
            <p:cNvPr id="204" name="Google Shape;204;p19"/>
            <p:cNvSpPr txBox="1"/>
            <p:nvPr/>
          </p:nvSpPr>
          <p:spPr>
            <a:xfrm>
              <a:off x="1156234" y="2333970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02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1156227" y="3245839"/>
              <a:ext cx="15396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Task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/>
        </p:nvSpPr>
        <p:spPr>
          <a:xfrm>
            <a:off x="457200" y="3657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Analysis Objectives &amp; Methodology</a:t>
            </a:r>
            <a:endParaRPr b="1" sz="16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p20"/>
          <p:cNvGrpSpPr/>
          <p:nvPr/>
        </p:nvGrpSpPr>
        <p:grpSpPr>
          <a:xfrm flipH="1">
            <a:off x="5626075" y="2336338"/>
            <a:ext cx="2941829" cy="1047300"/>
            <a:chOff x="857520" y="1684225"/>
            <a:chExt cx="2941829" cy="1047300"/>
          </a:xfrm>
        </p:grpSpPr>
        <p:sp>
          <p:nvSpPr>
            <p:cNvPr id="212" name="Google Shape;212;p20"/>
            <p:cNvSpPr txBox="1"/>
            <p:nvPr/>
          </p:nvSpPr>
          <p:spPr>
            <a:xfrm>
              <a:off x="857520" y="1684225"/>
              <a:ext cx="2077200" cy="10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Develop targeted engagement strategies</a:t>
              </a:r>
              <a:endPara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3" name="Google Shape;213;p20"/>
            <p:cNvCxnSpPr/>
            <p:nvPr/>
          </p:nvCxnSpPr>
          <p:spPr>
            <a:xfrm rot="10800000">
              <a:off x="3046949" y="2215320"/>
              <a:ext cx="7524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4" name="Google Shape;214;p20"/>
            <p:cNvSpPr/>
            <p:nvPr/>
          </p:nvSpPr>
          <p:spPr>
            <a:xfrm>
              <a:off x="3020371" y="2111851"/>
              <a:ext cx="198600" cy="198300"/>
            </a:xfrm>
            <a:prstGeom prst="ellipse">
              <a:avLst/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2995927" y="2051434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216" name="Google Shape;216;p20"/>
          <p:cNvGrpSpPr/>
          <p:nvPr/>
        </p:nvGrpSpPr>
        <p:grpSpPr>
          <a:xfrm>
            <a:off x="211690" y="3029663"/>
            <a:ext cx="3319714" cy="1047300"/>
            <a:chOff x="857520" y="1684225"/>
            <a:chExt cx="3319714" cy="1047300"/>
          </a:xfrm>
        </p:grpSpPr>
        <p:sp>
          <p:nvSpPr>
            <p:cNvPr id="217" name="Google Shape;217;p20"/>
            <p:cNvSpPr txBox="1"/>
            <p:nvPr/>
          </p:nvSpPr>
          <p:spPr>
            <a:xfrm>
              <a:off x="857520" y="1684225"/>
              <a:ext cx="2077200" cy="10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latin typeface="Roboto"/>
                  <a:ea typeface="Roboto"/>
                  <a:cs typeface="Roboto"/>
                  <a:sym typeface="Roboto"/>
                </a:rPr>
                <a:t>Identify customer segments to translate into actionable groups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8" name="Google Shape;218;p20"/>
            <p:cNvCxnSpPr/>
            <p:nvPr/>
          </p:nvCxnSpPr>
          <p:spPr>
            <a:xfrm rot="10800000">
              <a:off x="3046834" y="2215329"/>
              <a:ext cx="11304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9" name="Google Shape;219;p20"/>
            <p:cNvSpPr/>
            <p:nvPr/>
          </p:nvSpPr>
          <p:spPr>
            <a:xfrm>
              <a:off x="3020371" y="2111851"/>
              <a:ext cx="198600" cy="198300"/>
            </a:xfrm>
            <a:prstGeom prst="ellipse">
              <a:avLst/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2995927" y="2051434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221" name="Google Shape;221;p20"/>
          <p:cNvGrpSpPr/>
          <p:nvPr/>
        </p:nvGrpSpPr>
        <p:grpSpPr>
          <a:xfrm flipH="1">
            <a:off x="4837475" y="1142288"/>
            <a:ext cx="3730429" cy="1047300"/>
            <a:chOff x="857520" y="1684225"/>
            <a:chExt cx="3730429" cy="1047300"/>
          </a:xfrm>
        </p:grpSpPr>
        <p:sp>
          <p:nvSpPr>
            <p:cNvPr id="222" name="Google Shape;222;p20"/>
            <p:cNvSpPr txBox="1"/>
            <p:nvPr/>
          </p:nvSpPr>
          <p:spPr>
            <a:xfrm>
              <a:off x="857520" y="1684225"/>
              <a:ext cx="2077200" cy="10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Maximize customer lifetime value</a:t>
              </a:r>
              <a:endPara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3" name="Google Shape;223;p20"/>
            <p:cNvCxnSpPr/>
            <p:nvPr/>
          </p:nvCxnSpPr>
          <p:spPr>
            <a:xfrm rot="10800000">
              <a:off x="3046849" y="2215320"/>
              <a:ext cx="15411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4" name="Google Shape;224;p20"/>
            <p:cNvSpPr/>
            <p:nvPr/>
          </p:nvSpPr>
          <p:spPr>
            <a:xfrm>
              <a:off x="3020371" y="2111851"/>
              <a:ext cx="198600" cy="198300"/>
            </a:xfrm>
            <a:prstGeom prst="ellipse">
              <a:avLst/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2995927" y="2051434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226" name="Google Shape;226;p20"/>
          <p:cNvGrpSpPr/>
          <p:nvPr/>
        </p:nvGrpSpPr>
        <p:grpSpPr>
          <a:xfrm>
            <a:off x="2817423" y="1295308"/>
            <a:ext cx="3509166" cy="3251991"/>
            <a:chOff x="3217473" y="1225350"/>
            <a:chExt cx="3118150" cy="3159727"/>
          </a:xfrm>
        </p:grpSpPr>
        <p:sp>
          <p:nvSpPr>
            <p:cNvPr id="227" name="Google Shape;227;p20"/>
            <p:cNvSpPr/>
            <p:nvPr/>
          </p:nvSpPr>
          <p:spPr>
            <a:xfrm>
              <a:off x="3579175" y="2711400"/>
              <a:ext cx="2396410" cy="97116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28" name="Google Shape;228;p20"/>
            <p:cNvSpPr/>
            <p:nvPr/>
          </p:nvSpPr>
          <p:spPr>
            <a:xfrm>
              <a:off x="3730755" y="2527208"/>
              <a:ext cx="2079127" cy="837209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29" name="Google Shape;229;p20"/>
            <p:cNvSpPr/>
            <p:nvPr/>
          </p:nvSpPr>
          <p:spPr>
            <a:xfrm>
              <a:off x="3946479" y="2252239"/>
              <a:ext cx="1647477" cy="663383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30" name="Google Shape;230;p20"/>
            <p:cNvSpPr/>
            <p:nvPr/>
          </p:nvSpPr>
          <p:spPr>
            <a:xfrm>
              <a:off x="4265445" y="1828277"/>
              <a:ext cx="1014014" cy="416547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31" name="Google Shape;231;p20"/>
            <p:cNvSpPr/>
            <p:nvPr/>
          </p:nvSpPr>
          <p:spPr>
            <a:xfrm>
              <a:off x="3217473" y="3154705"/>
              <a:ext cx="1559116" cy="1230372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065A82"/>
            </a:solidFill>
            <a:ln>
              <a:noFill/>
            </a:ln>
          </p:spPr>
        </p:sp>
        <p:sp>
          <p:nvSpPr>
            <p:cNvPr id="232" name="Google Shape;232;p20"/>
            <p:cNvSpPr/>
            <p:nvPr/>
          </p:nvSpPr>
          <p:spPr>
            <a:xfrm>
              <a:off x="3790596" y="2554725"/>
              <a:ext cx="982143" cy="653205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233" name="Google Shape;233;p20"/>
            <p:cNvSpPr/>
            <p:nvPr/>
          </p:nvSpPr>
          <p:spPr>
            <a:xfrm flipH="1">
              <a:off x="4770690" y="2554725"/>
              <a:ext cx="982143" cy="653205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</p:spPr>
        </p:sp>
        <p:sp>
          <p:nvSpPr>
            <p:cNvPr id="234" name="Google Shape;234;p20"/>
            <p:cNvSpPr/>
            <p:nvPr/>
          </p:nvSpPr>
          <p:spPr>
            <a:xfrm>
              <a:off x="4002555" y="2023456"/>
              <a:ext cx="770191" cy="72189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065A82"/>
            </a:solidFill>
            <a:ln>
              <a:noFill/>
            </a:ln>
          </p:spPr>
        </p:sp>
        <p:sp>
          <p:nvSpPr>
            <p:cNvPr id="235" name="Google Shape;235;p20"/>
            <p:cNvSpPr/>
            <p:nvPr/>
          </p:nvSpPr>
          <p:spPr>
            <a:xfrm flipH="1">
              <a:off x="4770683" y="2023456"/>
              <a:ext cx="770191" cy="72189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00A896"/>
            </a:solidFill>
            <a:ln>
              <a:noFill/>
            </a:ln>
          </p:spPr>
        </p:sp>
        <p:sp>
          <p:nvSpPr>
            <p:cNvPr id="236" name="Google Shape;236;p20"/>
            <p:cNvSpPr/>
            <p:nvPr/>
          </p:nvSpPr>
          <p:spPr>
            <a:xfrm>
              <a:off x="4323640" y="1225350"/>
              <a:ext cx="449116" cy="85401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065A82"/>
            </a:solidFill>
            <a:ln>
              <a:noFill/>
            </a:ln>
          </p:spPr>
        </p:sp>
        <p:sp>
          <p:nvSpPr>
            <p:cNvPr id="237" name="Google Shape;237;p20"/>
            <p:cNvSpPr/>
            <p:nvPr/>
          </p:nvSpPr>
          <p:spPr>
            <a:xfrm flipH="1">
              <a:off x="4770673" y="1225350"/>
              <a:ext cx="449116" cy="85401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00A896"/>
            </a:solidFill>
            <a:ln>
              <a:noFill/>
            </a:ln>
          </p:spPr>
        </p:sp>
        <p:sp>
          <p:nvSpPr>
            <p:cNvPr id="238" name="Google Shape;238;p20"/>
            <p:cNvSpPr/>
            <p:nvPr/>
          </p:nvSpPr>
          <p:spPr>
            <a:xfrm>
              <a:off x="3636034" y="2553603"/>
              <a:ext cx="1136642" cy="946913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065A82"/>
            </a:solidFill>
            <a:ln>
              <a:noFill/>
            </a:ln>
          </p:spPr>
        </p:sp>
        <p:sp>
          <p:nvSpPr>
            <p:cNvPr id="239" name="Google Shape;239;p20"/>
            <p:cNvSpPr/>
            <p:nvPr/>
          </p:nvSpPr>
          <p:spPr>
            <a:xfrm flipH="1">
              <a:off x="4770657" y="2555106"/>
              <a:ext cx="1136642" cy="946913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00A896"/>
            </a:solidFill>
            <a:ln>
              <a:noFill/>
            </a:ln>
          </p:spPr>
        </p:sp>
        <p:sp>
          <p:nvSpPr>
            <p:cNvPr id="240" name="Google Shape;240;p20"/>
            <p:cNvSpPr/>
            <p:nvPr/>
          </p:nvSpPr>
          <p:spPr>
            <a:xfrm flipH="1">
              <a:off x="4776508" y="3154705"/>
              <a:ext cx="1559116" cy="1230372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00A896"/>
            </a:solidFill>
            <a:ln>
              <a:noFill/>
            </a:ln>
          </p:spPr>
        </p:sp>
      </p:grpSp>
      <p:grpSp>
        <p:nvGrpSpPr>
          <p:cNvPr id="241" name="Google Shape;241;p20"/>
          <p:cNvGrpSpPr/>
          <p:nvPr/>
        </p:nvGrpSpPr>
        <p:grpSpPr>
          <a:xfrm>
            <a:off x="535540" y="1775553"/>
            <a:ext cx="3319714" cy="1047300"/>
            <a:chOff x="857520" y="1684225"/>
            <a:chExt cx="3319714" cy="1047300"/>
          </a:xfrm>
        </p:grpSpPr>
        <p:sp>
          <p:nvSpPr>
            <p:cNvPr id="242" name="Google Shape;242;p20"/>
            <p:cNvSpPr txBox="1"/>
            <p:nvPr/>
          </p:nvSpPr>
          <p:spPr>
            <a:xfrm>
              <a:off x="857520" y="1684225"/>
              <a:ext cx="2077200" cy="10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Recommend personalized retention perks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3" name="Google Shape;243;p20"/>
            <p:cNvCxnSpPr/>
            <p:nvPr/>
          </p:nvCxnSpPr>
          <p:spPr>
            <a:xfrm rot="10800000">
              <a:off x="3046834" y="2215329"/>
              <a:ext cx="11304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" name="Google Shape;244;p20"/>
            <p:cNvSpPr/>
            <p:nvPr/>
          </p:nvSpPr>
          <p:spPr>
            <a:xfrm>
              <a:off x="3020371" y="2111851"/>
              <a:ext cx="198600" cy="198300"/>
            </a:xfrm>
            <a:prstGeom prst="ellipse">
              <a:avLst/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2995927" y="2051434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246" name="Google Shape;246;p20"/>
          <p:cNvSpPr/>
          <p:nvPr/>
        </p:nvSpPr>
        <p:spPr>
          <a:xfrm>
            <a:off x="0" y="5318700"/>
            <a:ext cx="2469000" cy="869100"/>
          </a:xfrm>
          <a:prstGeom prst="homePlate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Exploratory Data Analysis (EDA)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2263425" y="5318925"/>
            <a:ext cx="2316600" cy="869100"/>
          </a:xfrm>
          <a:prstGeom prst="chevron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Behavioral Pattern Analysis 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329975" y="5318925"/>
            <a:ext cx="2316600" cy="869100"/>
          </a:xfrm>
          <a:prstGeom prst="chevron">
            <a:avLst>
              <a:gd fmla="val 5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RFM Segmentation Framework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396750" y="5318925"/>
            <a:ext cx="2726700" cy="869100"/>
          </a:xfrm>
          <a:prstGeom prst="chevron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Perks Recommendation Engine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0" y="6188025"/>
            <a:ext cx="23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Roboto"/>
                <a:ea typeface="Roboto"/>
                <a:cs typeface="Roboto"/>
                <a:sym typeface="Roboto"/>
              </a:rPr>
              <a:t>Data exploration &amp; validation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375775" y="6188025"/>
            <a:ext cx="231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Roboto"/>
                <a:ea typeface="Roboto"/>
                <a:cs typeface="Roboto"/>
                <a:sym typeface="Roboto"/>
              </a:rPr>
              <a:t>Understanding user behavior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4572000" y="6188025"/>
            <a:ext cx="231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Roboto"/>
                <a:ea typeface="Roboto"/>
                <a:cs typeface="Roboto"/>
                <a:sym typeface="Roboto"/>
              </a:rPr>
              <a:t>Building the model, </a:t>
            </a:r>
            <a:r>
              <a:rPr lang="en-US" sz="1000">
                <a:latin typeface="Roboto"/>
                <a:ea typeface="Roboto"/>
                <a:cs typeface="Roboto"/>
                <a:sym typeface="Roboto"/>
              </a:rPr>
              <a:t>assigned customer segments based on RFM scores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827400" y="6188025"/>
            <a:ext cx="231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Roboto"/>
                <a:ea typeface="Roboto"/>
                <a:cs typeface="Roboto"/>
                <a:sym typeface="Roboto"/>
              </a:rPr>
              <a:t>Lifetime value analysis, perks allocation, retention strategies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21"/>
          <p:cNvGrpSpPr/>
          <p:nvPr/>
        </p:nvGrpSpPr>
        <p:grpSpPr>
          <a:xfrm>
            <a:off x="822840" y="1413019"/>
            <a:ext cx="7634640" cy="4031968"/>
            <a:chOff x="1156223" y="731936"/>
            <a:chExt cx="6955758" cy="3673440"/>
          </a:xfrm>
        </p:grpSpPr>
        <p:sp>
          <p:nvSpPr>
            <p:cNvPr id="259" name="Google Shape;259;p21"/>
            <p:cNvSpPr/>
            <p:nvPr/>
          </p:nvSpPr>
          <p:spPr>
            <a:xfrm>
              <a:off x="1156223" y="748037"/>
              <a:ext cx="1539600" cy="12978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6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1156227" y="7480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01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261" name="Google Shape;261;p21"/>
            <p:cNvSpPr txBox="1"/>
            <p:nvPr/>
          </p:nvSpPr>
          <p:spPr>
            <a:xfrm>
              <a:off x="1156227" y="1085539"/>
              <a:ext cx="1539600" cy="4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Situation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1156227" y="2322561"/>
              <a:ext cx="1539600" cy="20715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6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63" name="Google Shape;263;p21"/>
            <p:cNvSpPr txBox="1"/>
            <p:nvPr/>
          </p:nvSpPr>
          <p:spPr>
            <a:xfrm>
              <a:off x="1156234" y="2333970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02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264" name="Google Shape;264;p21"/>
            <p:cNvSpPr txBox="1"/>
            <p:nvPr/>
          </p:nvSpPr>
          <p:spPr>
            <a:xfrm>
              <a:off x="1156227" y="3245839"/>
              <a:ext cx="15396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Task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2903702" y="1702714"/>
              <a:ext cx="1539600" cy="26913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66" name="Google Shape;266;p21"/>
            <p:cNvSpPr txBox="1"/>
            <p:nvPr/>
          </p:nvSpPr>
          <p:spPr>
            <a:xfrm>
              <a:off x="2907637" y="1702716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03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267" name="Google Shape;267;p21"/>
            <p:cNvSpPr txBox="1"/>
            <p:nvPr/>
          </p:nvSpPr>
          <p:spPr>
            <a:xfrm>
              <a:off x="2903677" y="2980139"/>
              <a:ext cx="1539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5"/>
                <a:buFont typeface="Arial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Actions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4651636" y="732511"/>
              <a:ext cx="1553059" cy="1329452"/>
            </a:xfrm>
            <a:custGeom>
              <a:rect b="b" l="l" r="r" t="t"/>
              <a:pathLst>
                <a:path extrusionOk="0" h="79087" w="92389">
                  <a:moveTo>
                    <a:pt x="5805" y="0"/>
                  </a:moveTo>
                  <a:lnTo>
                    <a:pt x="4596" y="121"/>
                  </a:lnTo>
                  <a:lnTo>
                    <a:pt x="3507" y="484"/>
                  </a:lnTo>
                  <a:lnTo>
                    <a:pt x="2540" y="1088"/>
                  </a:lnTo>
                  <a:lnTo>
                    <a:pt x="1693" y="1814"/>
                  </a:lnTo>
                  <a:lnTo>
                    <a:pt x="968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1" y="5804"/>
                  </a:lnTo>
                  <a:lnTo>
                    <a:pt x="1" y="73282"/>
                  </a:lnTo>
                  <a:lnTo>
                    <a:pt x="121" y="74491"/>
                  </a:lnTo>
                  <a:lnTo>
                    <a:pt x="484" y="75579"/>
                  </a:lnTo>
                  <a:lnTo>
                    <a:pt x="968" y="76547"/>
                  </a:lnTo>
                  <a:lnTo>
                    <a:pt x="1693" y="77393"/>
                  </a:lnTo>
                  <a:lnTo>
                    <a:pt x="2540" y="78119"/>
                  </a:lnTo>
                  <a:lnTo>
                    <a:pt x="3507" y="78602"/>
                  </a:lnTo>
                  <a:lnTo>
                    <a:pt x="4596" y="78965"/>
                  </a:lnTo>
                  <a:lnTo>
                    <a:pt x="5805" y="79086"/>
                  </a:lnTo>
                  <a:lnTo>
                    <a:pt x="86584" y="79086"/>
                  </a:lnTo>
                  <a:lnTo>
                    <a:pt x="87672" y="78965"/>
                  </a:lnTo>
                  <a:lnTo>
                    <a:pt x="88761" y="78602"/>
                  </a:lnTo>
                  <a:lnTo>
                    <a:pt x="89849" y="78119"/>
                  </a:lnTo>
                  <a:lnTo>
                    <a:pt x="90696" y="77393"/>
                  </a:lnTo>
                  <a:lnTo>
                    <a:pt x="91421" y="76547"/>
                  </a:lnTo>
                  <a:lnTo>
                    <a:pt x="91905" y="75579"/>
                  </a:lnTo>
                  <a:lnTo>
                    <a:pt x="92268" y="74491"/>
                  </a:lnTo>
                  <a:lnTo>
                    <a:pt x="92389" y="73282"/>
                  </a:lnTo>
                  <a:lnTo>
                    <a:pt x="92389" y="34827"/>
                  </a:lnTo>
                  <a:lnTo>
                    <a:pt x="4776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 txBox="1"/>
            <p:nvPr/>
          </p:nvSpPr>
          <p:spPr>
            <a:xfrm>
              <a:off x="4653252" y="7319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04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270" name="Google Shape;270;p21"/>
            <p:cNvSpPr txBox="1"/>
            <p:nvPr/>
          </p:nvSpPr>
          <p:spPr>
            <a:xfrm>
              <a:off x="4651180" y="1404870"/>
              <a:ext cx="1553100" cy="463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Exploratory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Data Analysis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5921900" y="737891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 rot="8100000">
              <a:off x="5998817" y="906557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73" name="Google Shape;273;p21"/>
            <p:cNvSpPr/>
            <p:nvPr/>
          </p:nvSpPr>
          <p:spPr>
            <a:xfrm flipH="1" rot="-2700000">
              <a:off x="5954439" y="86609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274" name="Google Shape;274;p21"/>
            <p:cNvCxnSpPr/>
            <p:nvPr/>
          </p:nvCxnSpPr>
          <p:spPr>
            <a:xfrm flipH="1" rot="8100000">
              <a:off x="5955415" y="875131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5" name="Google Shape;275;p21"/>
            <p:cNvSpPr/>
            <p:nvPr/>
          </p:nvSpPr>
          <p:spPr>
            <a:xfrm>
              <a:off x="5476232" y="731936"/>
              <a:ext cx="750113" cy="585442"/>
            </a:xfrm>
            <a:custGeom>
              <a:rect b="b" l="l" r="r" t="t"/>
              <a:pathLst>
                <a:path extrusionOk="0" h="34827" w="44623">
                  <a:moveTo>
                    <a:pt x="44623" y="3482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4663473" y="2333963"/>
              <a:ext cx="1551025" cy="2071412"/>
            </a:xfrm>
            <a:custGeom>
              <a:rect b="b" l="l" r="r" t="t"/>
              <a:pathLst>
                <a:path extrusionOk="0" h="123225" w="92268">
                  <a:moveTo>
                    <a:pt x="5805" y="0"/>
                  </a:moveTo>
                  <a:lnTo>
                    <a:pt x="4596" y="121"/>
                  </a:lnTo>
                  <a:lnTo>
                    <a:pt x="3508" y="363"/>
                  </a:lnTo>
                  <a:lnTo>
                    <a:pt x="2540" y="968"/>
                  </a:lnTo>
                  <a:lnTo>
                    <a:pt x="1694" y="1693"/>
                  </a:lnTo>
                  <a:lnTo>
                    <a:pt x="968" y="2540"/>
                  </a:lnTo>
                  <a:lnTo>
                    <a:pt x="364" y="3507"/>
                  </a:lnTo>
                  <a:lnTo>
                    <a:pt x="1" y="4596"/>
                  </a:lnTo>
                  <a:lnTo>
                    <a:pt x="1" y="5805"/>
                  </a:lnTo>
                  <a:lnTo>
                    <a:pt x="1" y="117420"/>
                  </a:lnTo>
                  <a:lnTo>
                    <a:pt x="1" y="118630"/>
                  </a:lnTo>
                  <a:lnTo>
                    <a:pt x="364" y="119718"/>
                  </a:lnTo>
                  <a:lnTo>
                    <a:pt x="968" y="120685"/>
                  </a:lnTo>
                  <a:lnTo>
                    <a:pt x="1694" y="121532"/>
                  </a:lnTo>
                  <a:lnTo>
                    <a:pt x="2540" y="122257"/>
                  </a:lnTo>
                  <a:lnTo>
                    <a:pt x="3508" y="122741"/>
                  </a:lnTo>
                  <a:lnTo>
                    <a:pt x="4596" y="123104"/>
                  </a:lnTo>
                  <a:lnTo>
                    <a:pt x="5805" y="123225"/>
                  </a:lnTo>
                  <a:lnTo>
                    <a:pt x="86464" y="123225"/>
                  </a:lnTo>
                  <a:lnTo>
                    <a:pt x="87673" y="123104"/>
                  </a:lnTo>
                  <a:lnTo>
                    <a:pt x="88761" y="122741"/>
                  </a:lnTo>
                  <a:lnTo>
                    <a:pt x="89729" y="122257"/>
                  </a:lnTo>
                  <a:lnTo>
                    <a:pt x="90575" y="121532"/>
                  </a:lnTo>
                  <a:lnTo>
                    <a:pt x="91301" y="120685"/>
                  </a:lnTo>
                  <a:lnTo>
                    <a:pt x="91905" y="119718"/>
                  </a:lnTo>
                  <a:lnTo>
                    <a:pt x="92147" y="118630"/>
                  </a:lnTo>
                  <a:lnTo>
                    <a:pt x="92268" y="117420"/>
                  </a:lnTo>
                  <a:lnTo>
                    <a:pt x="92268" y="34706"/>
                  </a:lnTo>
                  <a:lnTo>
                    <a:pt x="4764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77" name="Google Shape;277;p21"/>
            <p:cNvSpPr txBox="1"/>
            <p:nvPr/>
          </p:nvSpPr>
          <p:spPr>
            <a:xfrm>
              <a:off x="4663474" y="2333952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05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4663477" y="3245839"/>
              <a:ext cx="15531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Customer Segmentation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5951888" y="2343205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 rot="8100000">
              <a:off x="6028805" y="251187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1" name="Google Shape;281;p21"/>
            <p:cNvSpPr/>
            <p:nvPr/>
          </p:nvSpPr>
          <p:spPr>
            <a:xfrm flipH="1" rot="-2700000">
              <a:off x="5984426" y="2471406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282" name="Google Shape;282;p21"/>
            <p:cNvCxnSpPr/>
            <p:nvPr/>
          </p:nvCxnSpPr>
          <p:spPr>
            <a:xfrm flipH="1" rot="8100000">
              <a:off x="5985402" y="2480445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3" name="Google Shape;283;p21"/>
            <p:cNvSpPr/>
            <p:nvPr/>
          </p:nvSpPr>
          <p:spPr>
            <a:xfrm>
              <a:off x="6434658" y="1713970"/>
              <a:ext cx="1677322" cy="2691399"/>
            </a:xfrm>
            <a:custGeom>
              <a:rect b="b" l="l" r="r" t="t"/>
              <a:pathLst>
                <a:path extrusionOk="0" h="160107" w="92389">
                  <a:moveTo>
                    <a:pt x="5804" y="0"/>
                  </a:moveTo>
                  <a:lnTo>
                    <a:pt x="4716" y="121"/>
                  </a:lnTo>
                  <a:lnTo>
                    <a:pt x="3628" y="484"/>
                  </a:lnTo>
                  <a:lnTo>
                    <a:pt x="2539" y="1088"/>
                  </a:lnTo>
                  <a:lnTo>
                    <a:pt x="1693" y="1814"/>
                  </a:lnTo>
                  <a:lnTo>
                    <a:pt x="967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0" y="5804"/>
                  </a:lnTo>
                  <a:lnTo>
                    <a:pt x="0" y="154303"/>
                  </a:lnTo>
                  <a:lnTo>
                    <a:pt x="121" y="155512"/>
                  </a:lnTo>
                  <a:lnTo>
                    <a:pt x="484" y="156600"/>
                  </a:lnTo>
                  <a:lnTo>
                    <a:pt x="967" y="157568"/>
                  </a:lnTo>
                  <a:lnTo>
                    <a:pt x="1693" y="158414"/>
                  </a:lnTo>
                  <a:lnTo>
                    <a:pt x="2539" y="159140"/>
                  </a:lnTo>
                  <a:lnTo>
                    <a:pt x="3628" y="159744"/>
                  </a:lnTo>
                  <a:lnTo>
                    <a:pt x="4716" y="159986"/>
                  </a:lnTo>
                  <a:lnTo>
                    <a:pt x="5804" y="160107"/>
                  </a:lnTo>
                  <a:lnTo>
                    <a:pt x="86584" y="160107"/>
                  </a:lnTo>
                  <a:lnTo>
                    <a:pt x="87793" y="159986"/>
                  </a:lnTo>
                  <a:lnTo>
                    <a:pt x="88881" y="159744"/>
                  </a:lnTo>
                  <a:lnTo>
                    <a:pt x="89849" y="159140"/>
                  </a:lnTo>
                  <a:lnTo>
                    <a:pt x="90695" y="158414"/>
                  </a:lnTo>
                  <a:lnTo>
                    <a:pt x="91421" y="157568"/>
                  </a:lnTo>
                  <a:lnTo>
                    <a:pt x="91904" y="156600"/>
                  </a:lnTo>
                  <a:lnTo>
                    <a:pt x="92267" y="155512"/>
                  </a:lnTo>
                  <a:lnTo>
                    <a:pt x="92388" y="154303"/>
                  </a:lnTo>
                  <a:lnTo>
                    <a:pt x="92388" y="34827"/>
                  </a:lnTo>
                  <a:lnTo>
                    <a:pt x="4776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84" name="Google Shape;284;p21"/>
            <p:cNvSpPr txBox="1"/>
            <p:nvPr/>
          </p:nvSpPr>
          <p:spPr>
            <a:xfrm>
              <a:off x="6434674" y="1713991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06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285" name="Google Shape;285;p21"/>
            <p:cNvSpPr txBox="1"/>
            <p:nvPr/>
          </p:nvSpPr>
          <p:spPr>
            <a:xfrm>
              <a:off x="6434681" y="3252053"/>
              <a:ext cx="16773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Recommendations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7728538" y="1691357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87" name="Google Shape;287;p21"/>
            <p:cNvSpPr/>
            <p:nvPr/>
          </p:nvSpPr>
          <p:spPr>
            <a:xfrm rot="8100000">
              <a:off x="7805455" y="1860023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8" name="Google Shape;288;p21"/>
            <p:cNvSpPr/>
            <p:nvPr/>
          </p:nvSpPr>
          <p:spPr>
            <a:xfrm flipH="1" rot="-2700000">
              <a:off x="7761076" y="1819558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289" name="Google Shape;289;p21"/>
            <p:cNvCxnSpPr/>
            <p:nvPr/>
          </p:nvCxnSpPr>
          <p:spPr>
            <a:xfrm flipH="1" rot="8100000">
              <a:off x="7762052" y="1828597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"/>
          <p:cNvSpPr txBox="1"/>
          <p:nvPr/>
        </p:nvSpPr>
        <p:spPr>
          <a:xfrm>
            <a:off x="6206375" y="2400975"/>
            <a:ext cx="13068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9825" lIns="39825" spcFirstLastPara="1" rIns="39825" wrap="square" tIns="398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23"/>
              </a:spcAft>
              <a:buNone/>
            </a:pPr>
            <a:r>
              <a:t/>
            </a:r>
            <a:endParaRPr sz="784">
              <a:solidFill>
                <a:srgbClr val="595959"/>
              </a:solidFill>
            </a:endParaRPr>
          </a:p>
        </p:txBody>
      </p:sp>
      <p:grpSp>
        <p:nvGrpSpPr>
          <p:cNvPr id="295" name="Google Shape;295;p22"/>
          <p:cNvGrpSpPr/>
          <p:nvPr/>
        </p:nvGrpSpPr>
        <p:grpSpPr>
          <a:xfrm>
            <a:off x="2740845" y="2478545"/>
            <a:ext cx="1689892" cy="2953971"/>
            <a:chOff x="2903677" y="1702714"/>
            <a:chExt cx="1539625" cy="2691300"/>
          </a:xfrm>
        </p:grpSpPr>
        <p:sp>
          <p:nvSpPr>
            <p:cNvPr id="296" name="Google Shape;296;p22"/>
            <p:cNvSpPr/>
            <p:nvPr/>
          </p:nvSpPr>
          <p:spPr>
            <a:xfrm>
              <a:off x="2903702" y="1702714"/>
              <a:ext cx="1539600" cy="26913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2907637" y="1702716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03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2903677" y="2980139"/>
              <a:ext cx="1539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5"/>
                <a:buFont typeface="Arial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Actions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23"/>
          <p:cNvGrpSpPr/>
          <p:nvPr/>
        </p:nvGrpSpPr>
        <p:grpSpPr>
          <a:xfrm>
            <a:off x="4658904" y="1413019"/>
            <a:ext cx="1728901" cy="1459838"/>
            <a:chOff x="4651180" y="731936"/>
            <a:chExt cx="1575165" cy="1330027"/>
          </a:xfrm>
        </p:grpSpPr>
        <p:sp>
          <p:nvSpPr>
            <p:cNvPr id="304" name="Google Shape;304;p23"/>
            <p:cNvSpPr/>
            <p:nvPr/>
          </p:nvSpPr>
          <p:spPr>
            <a:xfrm>
              <a:off x="4651636" y="732511"/>
              <a:ext cx="1553059" cy="1329452"/>
            </a:xfrm>
            <a:custGeom>
              <a:rect b="b" l="l" r="r" t="t"/>
              <a:pathLst>
                <a:path extrusionOk="0" h="79087" w="92389">
                  <a:moveTo>
                    <a:pt x="5805" y="0"/>
                  </a:moveTo>
                  <a:lnTo>
                    <a:pt x="4596" y="121"/>
                  </a:lnTo>
                  <a:lnTo>
                    <a:pt x="3507" y="484"/>
                  </a:lnTo>
                  <a:lnTo>
                    <a:pt x="2540" y="1088"/>
                  </a:lnTo>
                  <a:lnTo>
                    <a:pt x="1693" y="1814"/>
                  </a:lnTo>
                  <a:lnTo>
                    <a:pt x="968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1" y="5804"/>
                  </a:lnTo>
                  <a:lnTo>
                    <a:pt x="1" y="73282"/>
                  </a:lnTo>
                  <a:lnTo>
                    <a:pt x="121" y="74491"/>
                  </a:lnTo>
                  <a:lnTo>
                    <a:pt x="484" y="75579"/>
                  </a:lnTo>
                  <a:lnTo>
                    <a:pt x="968" y="76547"/>
                  </a:lnTo>
                  <a:lnTo>
                    <a:pt x="1693" y="77393"/>
                  </a:lnTo>
                  <a:lnTo>
                    <a:pt x="2540" y="78119"/>
                  </a:lnTo>
                  <a:lnTo>
                    <a:pt x="3507" y="78602"/>
                  </a:lnTo>
                  <a:lnTo>
                    <a:pt x="4596" y="78965"/>
                  </a:lnTo>
                  <a:lnTo>
                    <a:pt x="5805" y="79086"/>
                  </a:lnTo>
                  <a:lnTo>
                    <a:pt x="86584" y="79086"/>
                  </a:lnTo>
                  <a:lnTo>
                    <a:pt x="87672" y="78965"/>
                  </a:lnTo>
                  <a:lnTo>
                    <a:pt x="88761" y="78602"/>
                  </a:lnTo>
                  <a:lnTo>
                    <a:pt x="89849" y="78119"/>
                  </a:lnTo>
                  <a:lnTo>
                    <a:pt x="90696" y="77393"/>
                  </a:lnTo>
                  <a:lnTo>
                    <a:pt x="91421" y="76547"/>
                  </a:lnTo>
                  <a:lnTo>
                    <a:pt x="91905" y="75579"/>
                  </a:lnTo>
                  <a:lnTo>
                    <a:pt x="92268" y="74491"/>
                  </a:lnTo>
                  <a:lnTo>
                    <a:pt x="92389" y="73282"/>
                  </a:lnTo>
                  <a:lnTo>
                    <a:pt x="92389" y="34827"/>
                  </a:lnTo>
                  <a:lnTo>
                    <a:pt x="4776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4653252" y="7319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04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306" name="Google Shape;306;p23"/>
            <p:cNvSpPr txBox="1"/>
            <p:nvPr/>
          </p:nvSpPr>
          <p:spPr>
            <a:xfrm>
              <a:off x="4651180" y="1404870"/>
              <a:ext cx="1553100" cy="463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Exploratory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Data Analysis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23"/>
            <p:cNvSpPr/>
            <p:nvPr/>
          </p:nvSpPr>
          <p:spPr>
            <a:xfrm>
              <a:off x="5921900" y="737891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08" name="Google Shape;308;p23"/>
            <p:cNvSpPr/>
            <p:nvPr/>
          </p:nvSpPr>
          <p:spPr>
            <a:xfrm rot="8100000">
              <a:off x="5998817" y="906557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09" name="Google Shape;309;p23"/>
            <p:cNvSpPr/>
            <p:nvPr/>
          </p:nvSpPr>
          <p:spPr>
            <a:xfrm flipH="1" rot="-2700000">
              <a:off x="5954439" y="86609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310" name="Google Shape;310;p23"/>
            <p:cNvCxnSpPr/>
            <p:nvPr/>
          </p:nvCxnSpPr>
          <p:spPr>
            <a:xfrm flipH="1" rot="8100000">
              <a:off x="5955415" y="875131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1" name="Google Shape;311;p23"/>
            <p:cNvSpPr/>
            <p:nvPr/>
          </p:nvSpPr>
          <p:spPr>
            <a:xfrm>
              <a:off x="5476232" y="731936"/>
              <a:ext cx="750113" cy="585442"/>
            </a:xfrm>
            <a:custGeom>
              <a:rect b="b" l="l" r="r" t="t"/>
              <a:pathLst>
                <a:path extrusionOk="0" h="34827" w="44623">
                  <a:moveTo>
                    <a:pt x="44623" y="3482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4" title="clicks vs. bookings.png"/>
          <p:cNvPicPr preferRelativeResize="0"/>
          <p:nvPr/>
        </p:nvPicPr>
        <p:blipFill rotWithShape="1">
          <a:blip r:embed="rId3">
            <a:alphaModFix/>
          </a:blip>
          <a:srcRect b="4626" l="5723" r="0" t="0"/>
          <a:stretch/>
        </p:blipFill>
        <p:spPr>
          <a:xfrm>
            <a:off x="1097375" y="667725"/>
            <a:ext cx="6949250" cy="28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 txBox="1"/>
          <p:nvPr/>
        </p:nvSpPr>
        <p:spPr>
          <a:xfrm>
            <a:off x="5473523" y="1448775"/>
            <a:ext cx="2573100" cy="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Total trips booked vs. # of clicks</a:t>
            </a:r>
            <a:endParaRPr sz="1200"/>
          </a:p>
        </p:txBody>
      </p:sp>
      <p:pic>
        <p:nvPicPr>
          <p:cNvPr id="318" name="Google Shape;31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9137" y="3823700"/>
            <a:ext cx="6085724" cy="23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4"/>
          <p:cNvSpPr txBox="1"/>
          <p:nvPr/>
        </p:nvSpPr>
        <p:spPr>
          <a:xfrm>
            <a:off x="1527054" y="5337713"/>
            <a:ext cx="1629900" cy="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Sign ups over time</a:t>
            </a:r>
            <a:endParaRPr sz="1200"/>
          </a:p>
        </p:txBody>
      </p:sp>
      <p:sp>
        <p:nvSpPr>
          <p:cNvPr id="320" name="Google Shape;320;p24"/>
          <p:cNvSpPr txBox="1"/>
          <p:nvPr/>
        </p:nvSpPr>
        <p:spPr>
          <a:xfrm>
            <a:off x="457200" y="3657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EDA - User data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375" y="3520450"/>
            <a:ext cx="4419600" cy="28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5"/>
          <p:cNvPicPr preferRelativeResize="0"/>
          <p:nvPr/>
        </p:nvPicPr>
        <p:blipFill rotWithShape="1">
          <a:blip r:embed="rId4">
            <a:alphaModFix/>
          </a:blip>
          <a:srcRect b="2714" l="0" r="0" t="0"/>
          <a:stretch/>
        </p:blipFill>
        <p:spPr>
          <a:xfrm>
            <a:off x="2016726" y="543200"/>
            <a:ext cx="5110525" cy="21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5"/>
          <p:cNvSpPr txBox="1"/>
          <p:nvPr/>
        </p:nvSpPr>
        <p:spPr>
          <a:xfrm>
            <a:off x="5090542" y="1180688"/>
            <a:ext cx="1629900" cy="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Age distribution</a:t>
            </a:r>
            <a:endParaRPr sz="1200"/>
          </a:p>
        </p:txBody>
      </p:sp>
      <p:pic>
        <p:nvPicPr>
          <p:cNvPr id="328" name="Google Shape;328;p25" title="flight_complet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520450"/>
            <a:ext cx="4419600" cy="28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 txBox="1"/>
          <p:nvPr/>
        </p:nvSpPr>
        <p:spPr>
          <a:xfrm>
            <a:off x="7127242" y="4561797"/>
            <a:ext cx="1629900" cy="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Hotels </a:t>
            </a: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 sz="1200"/>
          </a:p>
        </p:txBody>
      </p:sp>
      <p:sp>
        <p:nvSpPr>
          <p:cNvPr id="330" name="Google Shape;330;p25"/>
          <p:cNvSpPr txBox="1"/>
          <p:nvPr/>
        </p:nvSpPr>
        <p:spPr>
          <a:xfrm>
            <a:off x="2619367" y="4561797"/>
            <a:ext cx="1629900" cy="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Flights completed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 txBox="1"/>
          <p:nvPr/>
        </p:nvSpPr>
        <p:spPr>
          <a:xfrm>
            <a:off x="457200" y="3657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Business Insights - User Behavior</a:t>
            </a:r>
            <a:endParaRPr sz="1600"/>
          </a:p>
        </p:txBody>
      </p:sp>
      <p:sp>
        <p:nvSpPr>
          <p:cNvPr id="336" name="Google Shape;336;p26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6"/>
          <p:cNvSpPr txBox="1"/>
          <p:nvPr/>
        </p:nvSpPr>
        <p:spPr>
          <a:xfrm>
            <a:off x="640080" y="1097280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Bundled Travel Behavior 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640080" y="1353312"/>
            <a:ext cx="786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Flight and hotel booking age profiles are nearly identical, suggesting the same users book both — making package deals and bundled offers a natural upsell opportunity. </a:t>
            </a: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640080" y="2057400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Middle-Aged Core Audience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640080" y="2313432"/>
            <a:ext cx="786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User base peaks between ages 40–50, with thin representation under 30 — pointing to a mature, likely dual-income demographic as the primary customer segment.</a:t>
            </a:r>
            <a:endParaRPr/>
          </a:p>
        </p:txBody>
      </p:sp>
      <p:sp>
        <p:nvSpPr>
          <p:cNvPr id="342" name="Google Shape;342;p26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 txBox="1"/>
          <p:nvPr/>
        </p:nvSpPr>
        <p:spPr>
          <a:xfrm>
            <a:off x="640080" y="3017520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Low-Frequency Bookers</a:t>
            </a:r>
            <a:endParaRPr b="1" sz="11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 txBox="1"/>
          <p:nvPr/>
        </p:nvSpPr>
        <p:spPr>
          <a:xfrm>
            <a:off x="640080" y="3273552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Most users book 2–4 trips total, with very few power users — indicating an opportunity to improve retention and repeat booking behavior.</a:t>
            </a:r>
            <a:endParaRPr sz="10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640080" y="3977639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Sign-Up Concentration 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640080" y="4233672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Nearly all 5,998 users signed up in a single quarter (2023 Q1), suggesting growth was driven by a one-time campaign rather than organic acquisition.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725" y="4738625"/>
            <a:ext cx="3089772" cy="198025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7"/>
          <p:cNvSpPr txBox="1"/>
          <p:nvPr/>
        </p:nvSpPr>
        <p:spPr>
          <a:xfrm>
            <a:off x="727000" y="4753825"/>
            <a:ext cx="2373000" cy="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Avg session duration by Outcome</a:t>
            </a:r>
            <a:endParaRPr sz="1200"/>
          </a:p>
        </p:txBody>
      </p:sp>
      <p:pic>
        <p:nvPicPr>
          <p:cNvPr id="354" name="Google Shape;3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100" y="5070775"/>
            <a:ext cx="2738001" cy="168815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7"/>
          <p:cNvSpPr txBox="1"/>
          <p:nvPr/>
        </p:nvSpPr>
        <p:spPr>
          <a:xfrm>
            <a:off x="6617299" y="4738625"/>
            <a:ext cx="1799700" cy="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Trip conversions split</a:t>
            </a:r>
            <a:endParaRPr sz="1200"/>
          </a:p>
        </p:txBody>
      </p:sp>
      <p:sp>
        <p:nvSpPr>
          <p:cNvPr id="356" name="Google Shape;356;p27"/>
          <p:cNvSpPr txBox="1"/>
          <p:nvPr/>
        </p:nvSpPr>
        <p:spPr>
          <a:xfrm>
            <a:off x="457200" y="3657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EDA - Sessions data</a:t>
            </a:r>
            <a:endParaRPr sz="1600"/>
          </a:p>
        </p:txBody>
      </p:sp>
      <p:pic>
        <p:nvPicPr>
          <p:cNvPr id="357" name="Google Shape;35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8038" y="756275"/>
            <a:ext cx="6887930" cy="362522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7"/>
          <p:cNvSpPr txBox="1"/>
          <p:nvPr/>
        </p:nvSpPr>
        <p:spPr>
          <a:xfrm>
            <a:off x="3285460" y="894675"/>
            <a:ext cx="2573100" cy="2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Total spend by avg session duration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 txBox="1"/>
          <p:nvPr/>
        </p:nvSpPr>
        <p:spPr>
          <a:xfrm>
            <a:off x="457200" y="3657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Business Insights - Session Behavior</a:t>
            </a:r>
            <a:endParaRPr sz="1600"/>
          </a:p>
        </p:txBody>
      </p:sp>
      <p:sp>
        <p:nvSpPr>
          <p:cNvPr id="364" name="Google Shape;364;p28"/>
          <p:cNvSpPr/>
          <p:nvPr/>
        </p:nvSpPr>
        <p:spPr>
          <a:xfrm>
            <a:off x="457250" y="1059340"/>
            <a:ext cx="8229600" cy="8229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8"/>
          <p:cNvSpPr txBox="1"/>
          <p:nvPr/>
        </p:nvSpPr>
        <p:spPr>
          <a:xfrm>
            <a:off x="640130" y="1150780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SzPts val="1100"/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Fast Converters Spend the Most</a:t>
            </a:r>
            <a:endParaRPr b="1" sz="11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8"/>
          <p:cNvSpPr txBox="1"/>
          <p:nvPr/>
        </p:nvSpPr>
        <p:spPr>
          <a:xfrm>
            <a:off x="640130" y="1406812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Under 10 mins account for highest-value bookings - prioritise users with targeted checkout offers</a:t>
            </a:r>
            <a:endParaRPr/>
          </a:p>
        </p:txBody>
      </p:sp>
      <p:sp>
        <p:nvSpPr>
          <p:cNvPr id="367" name="Google Shape;367;p28"/>
          <p:cNvSpPr/>
          <p:nvPr/>
        </p:nvSpPr>
        <p:spPr>
          <a:xfrm>
            <a:off x="457225" y="1992630"/>
            <a:ext cx="8229600" cy="8229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8"/>
          <p:cNvSpPr txBox="1"/>
          <p:nvPr/>
        </p:nvSpPr>
        <p:spPr>
          <a:xfrm>
            <a:off x="640105" y="2084070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Session-to-Trip Conversion</a:t>
            </a:r>
            <a:endParaRPr/>
          </a:p>
        </p:txBody>
      </p:sp>
      <p:sp>
        <p:nvSpPr>
          <p:cNvPr id="369" name="Google Shape;369;p28"/>
          <p:cNvSpPr txBox="1"/>
          <p:nvPr/>
        </p:nvSpPr>
        <p:spPr>
          <a:xfrm>
            <a:off x="640105" y="2340102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2/3rds of our </a:t>
            </a: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sessions</a:t>
            </a: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don’t convert</a:t>
            </a:r>
            <a:endParaRPr/>
          </a:p>
        </p:txBody>
      </p:sp>
      <p:sp>
        <p:nvSpPr>
          <p:cNvPr id="370" name="Google Shape;370;p28"/>
          <p:cNvSpPr/>
          <p:nvPr/>
        </p:nvSpPr>
        <p:spPr>
          <a:xfrm>
            <a:off x="457225" y="2952750"/>
            <a:ext cx="8229600" cy="8229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 txBox="1"/>
          <p:nvPr/>
        </p:nvSpPr>
        <p:spPr>
          <a:xfrm>
            <a:off x="640097" y="3044200"/>
            <a:ext cx="4286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Bundled Bookings Require Significantly More Session Time</a:t>
            </a:r>
            <a:endParaRPr b="1" sz="11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 txBox="1"/>
          <p:nvPr/>
        </p:nvSpPr>
        <p:spPr>
          <a:xfrm>
            <a:off x="640105" y="3300222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Users booking both hotels and flights display a high purchase intent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29"/>
          <p:cNvGrpSpPr/>
          <p:nvPr/>
        </p:nvGrpSpPr>
        <p:grpSpPr>
          <a:xfrm>
            <a:off x="822840" y="1413019"/>
            <a:ext cx="7634640" cy="4031968"/>
            <a:chOff x="1156223" y="731936"/>
            <a:chExt cx="6955758" cy="3673440"/>
          </a:xfrm>
        </p:grpSpPr>
        <p:sp>
          <p:nvSpPr>
            <p:cNvPr id="378" name="Google Shape;378;p29"/>
            <p:cNvSpPr/>
            <p:nvPr/>
          </p:nvSpPr>
          <p:spPr>
            <a:xfrm>
              <a:off x="1156223" y="748037"/>
              <a:ext cx="1539600" cy="12978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6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79" name="Google Shape;379;p29"/>
            <p:cNvSpPr txBox="1"/>
            <p:nvPr/>
          </p:nvSpPr>
          <p:spPr>
            <a:xfrm>
              <a:off x="1156227" y="7480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01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380" name="Google Shape;380;p29"/>
            <p:cNvSpPr txBox="1"/>
            <p:nvPr/>
          </p:nvSpPr>
          <p:spPr>
            <a:xfrm>
              <a:off x="1156227" y="1085539"/>
              <a:ext cx="1539600" cy="4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Situation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1156227" y="2322561"/>
              <a:ext cx="1539600" cy="20715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6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82" name="Google Shape;382;p29"/>
            <p:cNvSpPr txBox="1"/>
            <p:nvPr/>
          </p:nvSpPr>
          <p:spPr>
            <a:xfrm>
              <a:off x="1156234" y="2333970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02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383" name="Google Shape;383;p29"/>
            <p:cNvSpPr txBox="1"/>
            <p:nvPr/>
          </p:nvSpPr>
          <p:spPr>
            <a:xfrm>
              <a:off x="1156227" y="3245839"/>
              <a:ext cx="15396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Task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2903702" y="1702714"/>
              <a:ext cx="1539600" cy="26913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85" name="Google Shape;385;p29"/>
            <p:cNvSpPr txBox="1"/>
            <p:nvPr/>
          </p:nvSpPr>
          <p:spPr>
            <a:xfrm>
              <a:off x="2907637" y="1702716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03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386" name="Google Shape;386;p29"/>
            <p:cNvSpPr txBox="1"/>
            <p:nvPr/>
          </p:nvSpPr>
          <p:spPr>
            <a:xfrm>
              <a:off x="2903677" y="2980139"/>
              <a:ext cx="1539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5"/>
                <a:buFont typeface="Arial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Actions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4651636" y="732511"/>
              <a:ext cx="1553059" cy="1329452"/>
            </a:xfrm>
            <a:custGeom>
              <a:rect b="b" l="l" r="r" t="t"/>
              <a:pathLst>
                <a:path extrusionOk="0" h="79087" w="92389">
                  <a:moveTo>
                    <a:pt x="5805" y="0"/>
                  </a:moveTo>
                  <a:lnTo>
                    <a:pt x="4596" y="121"/>
                  </a:lnTo>
                  <a:lnTo>
                    <a:pt x="3507" y="484"/>
                  </a:lnTo>
                  <a:lnTo>
                    <a:pt x="2540" y="1088"/>
                  </a:lnTo>
                  <a:lnTo>
                    <a:pt x="1693" y="1814"/>
                  </a:lnTo>
                  <a:lnTo>
                    <a:pt x="968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1" y="5804"/>
                  </a:lnTo>
                  <a:lnTo>
                    <a:pt x="1" y="73282"/>
                  </a:lnTo>
                  <a:lnTo>
                    <a:pt x="121" y="74491"/>
                  </a:lnTo>
                  <a:lnTo>
                    <a:pt x="484" y="75579"/>
                  </a:lnTo>
                  <a:lnTo>
                    <a:pt x="968" y="76547"/>
                  </a:lnTo>
                  <a:lnTo>
                    <a:pt x="1693" y="77393"/>
                  </a:lnTo>
                  <a:lnTo>
                    <a:pt x="2540" y="78119"/>
                  </a:lnTo>
                  <a:lnTo>
                    <a:pt x="3507" y="78602"/>
                  </a:lnTo>
                  <a:lnTo>
                    <a:pt x="4596" y="78965"/>
                  </a:lnTo>
                  <a:lnTo>
                    <a:pt x="5805" y="79086"/>
                  </a:lnTo>
                  <a:lnTo>
                    <a:pt x="86584" y="79086"/>
                  </a:lnTo>
                  <a:lnTo>
                    <a:pt x="87672" y="78965"/>
                  </a:lnTo>
                  <a:lnTo>
                    <a:pt x="88761" y="78602"/>
                  </a:lnTo>
                  <a:lnTo>
                    <a:pt x="89849" y="78119"/>
                  </a:lnTo>
                  <a:lnTo>
                    <a:pt x="90696" y="77393"/>
                  </a:lnTo>
                  <a:lnTo>
                    <a:pt x="91421" y="76547"/>
                  </a:lnTo>
                  <a:lnTo>
                    <a:pt x="91905" y="75579"/>
                  </a:lnTo>
                  <a:lnTo>
                    <a:pt x="92268" y="74491"/>
                  </a:lnTo>
                  <a:lnTo>
                    <a:pt x="92389" y="73282"/>
                  </a:lnTo>
                  <a:lnTo>
                    <a:pt x="92389" y="34827"/>
                  </a:lnTo>
                  <a:lnTo>
                    <a:pt x="4776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9"/>
            <p:cNvSpPr txBox="1"/>
            <p:nvPr/>
          </p:nvSpPr>
          <p:spPr>
            <a:xfrm>
              <a:off x="4653252" y="7319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04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389" name="Google Shape;389;p29"/>
            <p:cNvSpPr txBox="1"/>
            <p:nvPr/>
          </p:nvSpPr>
          <p:spPr>
            <a:xfrm>
              <a:off x="4651180" y="1404870"/>
              <a:ext cx="1553100" cy="463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Exploratory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Data Analysis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5921900" y="737891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91" name="Google Shape;391;p29"/>
            <p:cNvSpPr/>
            <p:nvPr/>
          </p:nvSpPr>
          <p:spPr>
            <a:xfrm rot="8100000">
              <a:off x="5998817" y="906557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2" name="Google Shape;392;p29"/>
            <p:cNvSpPr/>
            <p:nvPr/>
          </p:nvSpPr>
          <p:spPr>
            <a:xfrm flipH="1" rot="-2700000">
              <a:off x="5954439" y="86609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393" name="Google Shape;393;p29"/>
            <p:cNvCxnSpPr/>
            <p:nvPr/>
          </p:nvCxnSpPr>
          <p:spPr>
            <a:xfrm flipH="1" rot="8100000">
              <a:off x="5955415" y="875131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4" name="Google Shape;394;p29"/>
            <p:cNvSpPr/>
            <p:nvPr/>
          </p:nvSpPr>
          <p:spPr>
            <a:xfrm>
              <a:off x="5476232" y="731936"/>
              <a:ext cx="750113" cy="585442"/>
            </a:xfrm>
            <a:custGeom>
              <a:rect b="b" l="l" r="r" t="t"/>
              <a:pathLst>
                <a:path extrusionOk="0" h="34827" w="44623">
                  <a:moveTo>
                    <a:pt x="44623" y="3482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4663473" y="2333963"/>
              <a:ext cx="1551025" cy="2071412"/>
            </a:xfrm>
            <a:custGeom>
              <a:rect b="b" l="l" r="r" t="t"/>
              <a:pathLst>
                <a:path extrusionOk="0" h="123225" w="92268">
                  <a:moveTo>
                    <a:pt x="5805" y="0"/>
                  </a:moveTo>
                  <a:lnTo>
                    <a:pt x="4596" y="121"/>
                  </a:lnTo>
                  <a:lnTo>
                    <a:pt x="3508" y="363"/>
                  </a:lnTo>
                  <a:lnTo>
                    <a:pt x="2540" y="968"/>
                  </a:lnTo>
                  <a:lnTo>
                    <a:pt x="1694" y="1693"/>
                  </a:lnTo>
                  <a:lnTo>
                    <a:pt x="968" y="2540"/>
                  </a:lnTo>
                  <a:lnTo>
                    <a:pt x="364" y="3507"/>
                  </a:lnTo>
                  <a:lnTo>
                    <a:pt x="1" y="4596"/>
                  </a:lnTo>
                  <a:lnTo>
                    <a:pt x="1" y="5805"/>
                  </a:lnTo>
                  <a:lnTo>
                    <a:pt x="1" y="117420"/>
                  </a:lnTo>
                  <a:lnTo>
                    <a:pt x="1" y="118630"/>
                  </a:lnTo>
                  <a:lnTo>
                    <a:pt x="364" y="119718"/>
                  </a:lnTo>
                  <a:lnTo>
                    <a:pt x="968" y="120685"/>
                  </a:lnTo>
                  <a:lnTo>
                    <a:pt x="1694" y="121532"/>
                  </a:lnTo>
                  <a:lnTo>
                    <a:pt x="2540" y="122257"/>
                  </a:lnTo>
                  <a:lnTo>
                    <a:pt x="3508" y="122741"/>
                  </a:lnTo>
                  <a:lnTo>
                    <a:pt x="4596" y="123104"/>
                  </a:lnTo>
                  <a:lnTo>
                    <a:pt x="5805" y="123225"/>
                  </a:lnTo>
                  <a:lnTo>
                    <a:pt x="86464" y="123225"/>
                  </a:lnTo>
                  <a:lnTo>
                    <a:pt x="87673" y="123104"/>
                  </a:lnTo>
                  <a:lnTo>
                    <a:pt x="88761" y="122741"/>
                  </a:lnTo>
                  <a:lnTo>
                    <a:pt x="89729" y="122257"/>
                  </a:lnTo>
                  <a:lnTo>
                    <a:pt x="90575" y="121532"/>
                  </a:lnTo>
                  <a:lnTo>
                    <a:pt x="91301" y="120685"/>
                  </a:lnTo>
                  <a:lnTo>
                    <a:pt x="91905" y="119718"/>
                  </a:lnTo>
                  <a:lnTo>
                    <a:pt x="92147" y="118630"/>
                  </a:lnTo>
                  <a:lnTo>
                    <a:pt x="92268" y="117420"/>
                  </a:lnTo>
                  <a:lnTo>
                    <a:pt x="92268" y="34706"/>
                  </a:lnTo>
                  <a:lnTo>
                    <a:pt x="4764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96" name="Google Shape;396;p29"/>
            <p:cNvSpPr txBox="1"/>
            <p:nvPr/>
          </p:nvSpPr>
          <p:spPr>
            <a:xfrm>
              <a:off x="4663474" y="2333952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05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397" name="Google Shape;397;p29"/>
            <p:cNvSpPr txBox="1"/>
            <p:nvPr/>
          </p:nvSpPr>
          <p:spPr>
            <a:xfrm>
              <a:off x="4663477" y="3245839"/>
              <a:ext cx="15531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Customer Segmentation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5951888" y="2343205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99" name="Google Shape;399;p29"/>
            <p:cNvSpPr/>
            <p:nvPr/>
          </p:nvSpPr>
          <p:spPr>
            <a:xfrm rot="8100000">
              <a:off x="6028805" y="251187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0" name="Google Shape;400;p29"/>
            <p:cNvSpPr/>
            <p:nvPr/>
          </p:nvSpPr>
          <p:spPr>
            <a:xfrm flipH="1" rot="-2700000">
              <a:off x="5984426" y="2471406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401" name="Google Shape;401;p29"/>
            <p:cNvCxnSpPr/>
            <p:nvPr/>
          </p:nvCxnSpPr>
          <p:spPr>
            <a:xfrm flipH="1" rot="8100000">
              <a:off x="5985402" y="2480445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2" name="Google Shape;402;p29"/>
            <p:cNvSpPr/>
            <p:nvPr/>
          </p:nvSpPr>
          <p:spPr>
            <a:xfrm>
              <a:off x="6434658" y="1713970"/>
              <a:ext cx="1677322" cy="2691399"/>
            </a:xfrm>
            <a:custGeom>
              <a:rect b="b" l="l" r="r" t="t"/>
              <a:pathLst>
                <a:path extrusionOk="0" h="160107" w="92389">
                  <a:moveTo>
                    <a:pt x="5804" y="0"/>
                  </a:moveTo>
                  <a:lnTo>
                    <a:pt x="4716" y="121"/>
                  </a:lnTo>
                  <a:lnTo>
                    <a:pt x="3628" y="484"/>
                  </a:lnTo>
                  <a:lnTo>
                    <a:pt x="2539" y="1088"/>
                  </a:lnTo>
                  <a:lnTo>
                    <a:pt x="1693" y="1814"/>
                  </a:lnTo>
                  <a:lnTo>
                    <a:pt x="967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0" y="5804"/>
                  </a:lnTo>
                  <a:lnTo>
                    <a:pt x="0" y="154303"/>
                  </a:lnTo>
                  <a:lnTo>
                    <a:pt x="121" y="155512"/>
                  </a:lnTo>
                  <a:lnTo>
                    <a:pt x="484" y="156600"/>
                  </a:lnTo>
                  <a:lnTo>
                    <a:pt x="967" y="157568"/>
                  </a:lnTo>
                  <a:lnTo>
                    <a:pt x="1693" y="158414"/>
                  </a:lnTo>
                  <a:lnTo>
                    <a:pt x="2539" y="159140"/>
                  </a:lnTo>
                  <a:lnTo>
                    <a:pt x="3628" y="159744"/>
                  </a:lnTo>
                  <a:lnTo>
                    <a:pt x="4716" y="159986"/>
                  </a:lnTo>
                  <a:lnTo>
                    <a:pt x="5804" y="160107"/>
                  </a:lnTo>
                  <a:lnTo>
                    <a:pt x="86584" y="160107"/>
                  </a:lnTo>
                  <a:lnTo>
                    <a:pt x="87793" y="159986"/>
                  </a:lnTo>
                  <a:lnTo>
                    <a:pt x="88881" y="159744"/>
                  </a:lnTo>
                  <a:lnTo>
                    <a:pt x="89849" y="159140"/>
                  </a:lnTo>
                  <a:lnTo>
                    <a:pt x="90695" y="158414"/>
                  </a:lnTo>
                  <a:lnTo>
                    <a:pt x="91421" y="157568"/>
                  </a:lnTo>
                  <a:lnTo>
                    <a:pt x="91904" y="156600"/>
                  </a:lnTo>
                  <a:lnTo>
                    <a:pt x="92267" y="155512"/>
                  </a:lnTo>
                  <a:lnTo>
                    <a:pt x="92388" y="154303"/>
                  </a:lnTo>
                  <a:lnTo>
                    <a:pt x="92388" y="34827"/>
                  </a:lnTo>
                  <a:lnTo>
                    <a:pt x="4776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03" name="Google Shape;403;p29"/>
            <p:cNvSpPr txBox="1"/>
            <p:nvPr/>
          </p:nvSpPr>
          <p:spPr>
            <a:xfrm>
              <a:off x="6434674" y="1713991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06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404" name="Google Shape;404;p29"/>
            <p:cNvSpPr txBox="1"/>
            <p:nvPr/>
          </p:nvSpPr>
          <p:spPr>
            <a:xfrm>
              <a:off x="6434681" y="3252053"/>
              <a:ext cx="16773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Recommendations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7728538" y="1691357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06" name="Google Shape;406;p29"/>
            <p:cNvSpPr/>
            <p:nvPr/>
          </p:nvSpPr>
          <p:spPr>
            <a:xfrm rot="8100000">
              <a:off x="7805455" y="1860023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7" name="Google Shape;407;p29"/>
            <p:cNvSpPr/>
            <p:nvPr/>
          </p:nvSpPr>
          <p:spPr>
            <a:xfrm flipH="1" rot="-2700000">
              <a:off x="7761076" y="1819558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408" name="Google Shape;408;p29"/>
            <p:cNvCxnSpPr/>
            <p:nvPr/>
          </p:nvCxnSpPr>
          <p:spPr>
            <a:xfrm flipH="1" rot="8100000">
              <a:off x="7762052" y="1828597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p30"/>
          <p:cNvGrpSpPr/>
          <p:nvPr/>
        </p:nvGrpSpPr>
        <p:grpSpPr>
          <a:xfrm>
            <a:off x="4672398" y="1413019"/>
            <a:ext cx="1715408" cy="4031968"/>
            <a:chOff x="4663473" y="731936"/>
            <a:chExt cx="1562871" cy="3673440"/>
          </a:xfrm>
        </p:grpSpPr>
        <p:sp>
          <p:nvSpPr>
            <p:cNvPr id="414" name="Google Shape;414;p30"/>
            <p:cNvSpPr/>
            <p:nvPr/>
          </p:nvSpPr>
          <p:spPr>
            <a:xfrm>
              <a:off x="5476232" y="731936"/>
              <a:ext cx="750113" cy="585442"/>
            </a:xfrm>
            <a:custGeom>
              <a:rect b="b" l="l" r="r" t="t"/>
              <a:pathLst>
                <a:path extrusionOk="0" h="34827" w="44623">
                  <a:moveTo>
                    <a:pt x="44623" y="3482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4663473" y="2333963"/>
              <a:ext cx="1551025" cy="2071412"/>
            </a:xfrm>
            <a:custGeom>
              <a:rect b="b" l="l" r="r" t="t"/>
              <a:pathLst>
                <a:path extrusionOk="0" h="123225" w="92268">
                  <a:moveTo>
                    <a:pt x="5805" y="0"/>
                  </a:moveTo>
                  <a:lnTo>
                    <a:pt x="4596" y="121"/>
                  </a:lnTo>
                  <a:lnTo>
                    <a:pt x="3508" y="363"/>
                  </a:lnTo>
                  <a:lnTo>
                    <a:pt x="2540" y="968"/>
                  </a:lnTo>
                  <a:lnTo>
                    <a:pt x="1694" y="1693"/>
                  </a:lnTo>
                  <a:lnTo>
                    <a:pt x="968" y="2540"/>
                  </a:lnTo>
                  <a:lnTo>
                    <a:pt x="364" y="3507"/>
                  </a:lnTo>
                  <a:lnTo>
                    <a:pt x="1" y="4596"/>
                  </a:lnTo>
                  <a:lnTo>
                    <a:pt x="1" y="5805"/>
                  </a:lnTo>
                  <a:lnTo>
                    <a:pt x="1" y="117420"/>
                  </a:lnTo>
                  <a:lnTo>
                    <a:pt x="1" y="118630"/>
                  </a:lnTo>
                  <a:lnTo>
                    <a:pt x="364" y="119718"/>
                  </a:lnTo>
                  <a:lnTo>
                    <a:pt x="968" y="120685"/>
                  </a:lnTo>
                  <a:lnTo>
                    <a:pt x="1694" y="121532"/>
                  </a:lnTo>
                  <a:lnTo>
                    <a:pt x="2540" y="122257"/>
                  </a:lnTo>
                  <a:lnTo>
                    <a:pt x="3508" y="122741"/>
                  </a:lnTo>
                  <a:lnTo>
                    <a:pt x="4596" y="123104"/>
                  </a:lnTo>
                  <a:lnTo>
                    <a:pt x="5805" y="123225"/>
                  </a:lnTo>
                  <a:lnTo>
                    <a:pt x="86464" y="123225"/>
                  </a:lnTo>
                  <a:lnTo>
                    <a:pt x="87673" y="123104"/>
                  </a:lnTo>
                  <a:lnTo>
                    <a:pt x="88761" y="122741"/>
                  </a:lnTo>
                  <a:lnTo>
                    <a:pt x="89729" y="122257"/>
                  </a:lnTo>
                  <a:lnTo>
                    <a:pt x="90575" y="121532"/>
                  </a:lnTo>
                  <a:lnTo>
                    <a:pt x="91301" y="120685"/>
                  </a:lnTo>
                  <a:lnTo>
                    <a:pt x="91905" y="119718"/>
                  </a:lnTo>
                  <a:lnTo>
                    <a:pt x="92147" y="118630"/>
                  </a:lnTo>
                  <a:lnTo>
                    <a:pt x="92268" y="117420"/>
                  </a:lnTo>
                  <a:lnTo>
                    <a:pt x="92268" y="34706"/>
                  </a:lnTo>
                  <a:lnTo>
                    <a:pt x="4764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16" name="Google Shape;416;p30"/>
            <p:cNvSpPr txBox="1"/>
            <p:nvPr/>
          </p:nvSpPr>
          <p:spPr>
            <a:xfrm>
              <a:off x="4663474" y="2333952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05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417" name="Google Shape;417;p30"/>
            <p:cNvSpPr txBox="1"/>
            <p:nvPr/>
          </p:nvSpPr>
          <p:spPr>
            <a:xfrm>
              <a:off x="4663477" y="3245839"/>
              <a:ext cx="15531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Customer Segmentation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5951888" y="2343205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19" name="Google Shape;419;p30"/>
            <p:cNvSpPr/>
            <p:nvPr/>
          </p:nvSpPr>
          <p:spPr>
            <a:xfrm rot="8100000">
              <a:off x="6028805" y="251187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20" name="Google Shape;420;p30"/>
            <p:cNvSpPr/>
            <p:nvPr/>
          </p:nvSpPr>
          <p:spPr>
            <a:xfrm flipH="1" rot="-2700000">
              <a:off x="5984426" y="2471406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421" name="Google Shape;421;p30"/>
            <p:cNvCxnSpPr/>
            <p:nvPr/>
          </p:nvCxnSpPr>
          <p:spPr>
            <a:xfrm flipH="1" rot="8100000">
              <a:off x="5985402" y="2480445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"/>
          <p:cNvSpPr/>
          <p:nvPr/>
        </p:nvSpPr>
        <p:spPr>
          <a:xfrm>
            <a:off x="5855075" y="1336275"/>
            <a:ext cx="2744400" cy="17598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1"/>
          <p:cNvSpPr txBox="1"/>
          <p:nvPr/>
        </p:nvSpPr>
        <p:spPr>
          <a:xfrm>
            <a:off x="457200" y="3657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RFM Segmentation Framework</a:t>
            </a:r>
            <a:endParaRPr sz="1600"/>
          </a:p>
        </p:txBody>
      </p:sp>
      <p:sp>
        <p:nvSpPr>
          <p:cNvPr id="428" name="Google Shape;428;p31"/>
          <p:cNvSpPr txBox="1"/>
          <p:nvPr/>
        </p:nvSpPr>
        <p:spPr>
          <a:xfrm>
            <a:off x="5933700" y="1701325"/>
            <a:ext cx="87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1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ecency</a:t>
            </a:r>
            <a:endParaRPr i="1" sz="12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1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requency </a:t>
            </a:r>
            <a:endParaRPr b="0" i="1" sz="1200" u="none" cap="none" strike="noStrike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1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onetary</a:t>
            </a:r>
            <a:endParaRPr sz="10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9" name="Google Shape;429;p31"/>
          <p:cNvGraphicFramePr/>
          <p:nvPr/>
        </p:nvGraphicFramePr>
        <p:xfrm>
          <a:off x="1033615" y="13362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{D4697F61-F229-4A9E-AB43-EAB76E42D7A7}</a:tableStyleId>
              </a:tblPr>
              <a:tblGrid>
                <a:gridCol w="1420200"/>
                <a:gridCol w="1420200"/>
                <a:gridCol w="1420200"/>
              </a:tblGrid>
              <a:tr h="117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 Not Lose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7DC3D6"/>
                        </a:gs>
                        <a:gs pos="100000">
                          <a:srgbClr val="39839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Loyal Customers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7DC3D6"/>
                        </a:gs>
                        <a:gs pos="100000">
                          <a:srgbClr val="39839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Champions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7DC3D6"/>
                        </a:gs>
                        <a:gs pos="100000">
                          <a:srgbClr val="39839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1755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 Risk (High Value) </a:t>
                      </a:r>
                      <a:r>
                        <a:rPr i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High m score</a:t>
                      </a:r>
                      <a:endParaRPr i="1" sz="1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endParaRPr b="1" sz="1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 Risk </a:t>
                      </a:r>
                      <a:r>
                        <a:rPr i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Low m score</a:t>
                      </a:r>
                      <a:endParaRPr b="1" sz="1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7DC3D6"/>
                        </a:gs>
                        <a:gs pos="100000">
                          <a:srgbClr val="39839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 Attention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7DC3D6"/>
                        </a:gs>
                        <a:gs pos="100000">
                          <a:srgbClr val="39839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Potential Champions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7DC3D6"/>
                        </a:gs>
                        <a:gs pos="100000">
                          <a:srgbClr val="39839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167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Hibernating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7DC3D6"/>
                        </a:gs>
                        <a:gs pos="100000">
                          <a:srgbClr val="39839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About to Sleep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7DC3D6"/>
                        </a:gs>
                        <a:gs pos="100000">
                          <a:srgbClr val="39839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Promising (High Value) </a:t>
                      </a:r>
                      <a:r>
                        <a:rPr i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High m score</a:t>
                      </a:r>
                      <a:endParaRPr i="1" sz="1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/ </a:t>
                      </a:r>
                      <a:endParaRPr b="1" sz="1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Promising (Growth) </a:t>
                      </a:r>
                      <a:r>
                        <a:rPr i="1" lang="en-US" sz="12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Low m score</a:t>
                      </a:r>
                      <a:endParaRPr b="1" sz="12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7DC3D6"/>
                        </a:gs>
                        <a:gs pos="100000">
                          <a:srgbClr val="398397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</a:tbl>
          </a:graphicData>
        </a:graphic>
      </p:graphicFrame>
      <p:sp>
        <p:nvSpPr>
          <p:cNvPr id="430" name="Google Shape;430;p31"/>
          <p:cNvSpPr txBox="1"/>
          <p:nvPr/>
        </p:nvSpPr>
        <p:spPr>
          <a:xfrm>
            <a:off x="1033617" y="6014831"/>
            <a:ext cx="1104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 Score (1-3)</a:t>
            </a:r>
            <a:endParaRPr/>
          </a:p>
        </p:txBody>
      </p:sp>
      <p:sp>
        <p:nvSpPr>
          <p:cNvPr id="431" name="Google Shape;431;p31"/>
          <p:cNvSpPr txBox="1"/>
          <p:nvPr/>
        </p:nvSpPr>
        <p:spPr>
          <a:xfrm rot="-5400000">
            <a:off x="194042" y="5279750"/>
            <a:ext cx="1104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 </a:t>
            </a:r>
            <a:r>
              <a:rPr b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Score (1-3)</a:t>
            </a:r>
            <a:endParaRPr/>
          </a:p>
        </p:txBody>
      </p:sp>
      <p:cxnSp>
        <p:nvCxnSpPr>
          <p:cNvPr id="432" name="Google Shape;432;p31"/>
          <p:cNvCxnSpPr/>
          <p:nvPr/>
        </p:nvCxnSpPr>
        <p:spPr>
          <a:xfrm flipH="1" rot="10800000">
            <a:off x="2137617" y="6148931"/>
            <a:ext cx="31074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3" name="Google Shape;433;p31"/>
          <p:cNvSpPr/>
          <p:nvPr/>
        </p:nvSpPr>
        <p:spPr>
          <a:xfrm>
            <a:off x="5855075" y="3328700"/>
            <a:ext cx="2744400" cy="28203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1"/>
          <p:cNvSpPr txBox="1"/>
          <p:nvPr/>
        </p:nvSpPr>
        <p:spPr>
          <a:xfrm>
            <a:off x="6275075" y="3507488"/>
            <a:ext cx="19044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rfm </a:t>
            </a:r>
            <a:r>
              <a:rPr b="1" i="1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1" i="1" sz="11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Average of Recency, Frequency, and Monetary scores (1–3 scale).</a:t>
            </a:r>
            <a:endParaRPr i="1" sz="11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b="1" i="1" sz="11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Driven by Recency + Frequency combination. </a:t>
            </a:r>
            <a:endParaRPr i="1" sz="11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*Monetary score applied selectively to 2 segments - Promising &amp; At Risk, to identify monetary impact based on recency.</a:t>
            </a:r>
            <a:endParaRPr i="1" sz="11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1"/>
          <p:cNvSpPr txBox="1"/>
          <p:nvPr/>
        </p:nvSpPr>
        <p:spPr>
          <a:xfrm>
            <a:off x="6910675" y="1701325"/>
            <a:ext cx="160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Days since last booking activity </a:t>
            </a:r>
            <a:endParaRPr sz="10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Number of trips booked</a:t>
            </a:r>
            <a:endParaRPr sz="10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Total spending</a:t>
            </a:r>
            <a:endParaRPr sz="10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6" name="Google Shape;436;p31"/>
          <p:cNvCxnSpPr>
            <a:stCxn id="431" idx="3"/>
          </p:cNvCxnSpPr>
          <p:nvPr/>
        </p:nvCxnSpPr>
        <p:spPr>
          <a:xfrm rot="10800000">
            <a:off x="744842" y="1346900"/>
            <a:ext cx="1200" cy="351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124" y="1479010"/>
            <a:ext cx="6271751" cy="3899974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2"/>
          <p:cNvSpPr/>
          <p:nvPr/>
        </p:nvSpPr>
        <p:spPr>
          <a:xfrm>
            <a:off x="1548963" y="2032875"/>
            <a:ext cx="109800" cy="175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2"/>
          <p:cNvSpPr/>
          <p:nvPr/>
        </p:nvSpPr>
        <p:spPr>
          <a:xfrm>
            <a:off x="1548963" y="3439625"/>
            <a:ext cx="109800" cy="175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2"/>
          <p:cNvSpPr/>
          <p:nvPr/>
        </p:nvSpPr>
        <p:spPr>
          <a:xfrm>
            <a:off x="1548963" y="4715825"/>
            <a:ext cx="109800" cy="175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2"/>
          <p:cNvSpPr/>
          <p:nvPr/>
        </p:nvSpPr>
        <p:spPr>
          <a:xfrm flipH="1" rot="10800000">
            <a:off x="7207913" y="4509201"/>
            <a:ext cx="109800" cy="175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2"/>
          <p:cNvSpPr/>
          <p:nvPr/>
        </p:nvSpPr>
        <p:spPr>
          <a:xfrm flipH="1" rot="10800000">
            <a:off x="5951088" y="4333701"/>
            <a:ext cx="109800" cy="175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2"/>
          <p:cNvSpPr/>
          <p:nvPr/>
        </p:nvSpPr>
        <p:spPr>
          <a:xfrm flipH="1" rot="10800000">
            <a:off x="7421826" y="5164197"/>
            <a:ext cx="109800" cy="175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2"/>
          <p:cNvSpPr txBox="1"/>
          <p:nvPr/>
        </p:nvSpPr>
        <p:spPr>
          <a:xfrm>
            <a:off x="6653352" y="5378975"/>
            <a:ext cx="104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Promising (High Value)</a:t>
            </a:r>
            <a:endParaRPr b="1" sz="12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1" sz="12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2"/>
          <p:cNvSpPr txBox="1"/>
          <p:nvPr/>
        </p:nvSpPr>
        <p:spPr>
          <a:xfrm>
            <a:off x="457200" y="3657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RFM Segments by User Strength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3"/>
          <p:cNvSpPr/>
          <p:nvPr/>
        </p:nvSpPr>
        <p:spPr>
          <a:xfrm>
            <a:off x="4616425" y="5523800"/>
            <a:ext cx="4374600" cy="12627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3"/>
          <p:cNvSpPr txBox="1"/>
          <p:nvPr/>
        </p:nvSpPr>
        <p:spPr>
          <a:xfrm>
            <a:off x="457200" y="3657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RFM Segmentation Results</a:t>
            </a:r>
            <a:endParaRPr sz="1600"/>
          </a:p>
        </p:txBody>
      </p:sp>
      <p:pic>
        <p:nvPicPr>
          <p:cNvPr id="456" name="Google Shape;4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3920"/>
            <a:ext cx="8839204" cy="1916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52632"/>
            <a:ext cx="8839204" cy="19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3"/>
          <p:cNvSpPr txBox="1"/>
          <p:nvPr/>
        </p:nvSpPr>
        <p:spPr>
          <a:xfrm>
            <a:off x="6285961" y="1557760"/>
            <a:ext cx="26958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Total Revenue by Segment</a:t>
            </a:r>
            <a:endParaRPr sz="1200"/>
          </a:p>
        </p:txBody>
      </p:sp>
      <p:sp>
        <p:nvSpPr>
          <p:cNvPr id="459" name="Google Shape;459;p33"/>
          <p:cNvSpPr txBox="1"/>
          <p:nvPr/>
        </p:nvSpPr>
        <p:spPr>
          <a:xfrm>
            <a:off x="6295800" y="3429010"/>
            <a:ext cx="26958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Purchase Frequency by Segment</a:t>
            </a:r>
            <a:endParaRPr sz="1200"/>
          </a:p>
        </p:txBody>
      </p:sp>
      <p:sp>
        <p:nvSpPr>
          <p:cNvPr id="460" name="Google Shape;460;p33"/>
          <p:cNvSpPr txBox="1"/>
          <p:nvPr/>
        </p:nvSpPr>
        <p:spPr>
          <a:xfrm>
            <a:off x="4906375" y="5831900"/>
            <a:ext cx="379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Promising (High-Value) Shows Your Strategy Works </a:t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Bottom Tier is Noise</a:t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3"/>
          <p:cNvSpPr/>
          <p:nvPr/>
        </p:nvSpPr>
        <p:spPr>
          <a:xfrm>
            <a:off x="197475" y="5523800"/>
            <a:ext cx="4374600" cy="12627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746625" y="5601050"/>
            <a:ext cx="327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Revenue Follows Frequency (Mostly)</a:t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At Risk (High Value) is Your Hidden Priority </a:t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Do Not Lose = Churn Risk with Revenue Impact </a:t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0" y="358237"/>
            <a:ext cx="6898700" cy="6041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4"/>
          <p:cNvSpPr txBox="1"/>
          <p:nvPr/>
        </p:nvSpPr>
        <p:spPr>
          <a:xfrm>
            <a:off x="7037072" y="308150"/>
            <a:ext cx="1944600" cy="276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Lifetime Value </a:t>
            </a: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by Segment</a:t>
            </a:r>
            <a:endParaRPr sz="1200"/>
          </a:p>
        </p:txBody>
      </p:sp>
      <p:sp>
        <p:nvSpPr>
          <p:cNvPr id="469" name="Google Shape;469;p34"/>
          <p:cNvSpPr/>
          <p:nvPr/>
        </p:nvSpPr>
        <p:spPr>
          <a:xfrm>
            <a:off x="7091725" y="663601"/>
            <a:ext cx="1840800" cy="54309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4"/>
          <p:cNvSpPr txBox="1"/>
          <p:nvPr/>
        </p:nvSpPr>
        <p:spPr>
          <a:xfrm>
            <a:off x="7322885" y="837460"/>
            <a:ext cx="1378500" cy="4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Customer quality (spend/visit) &gt; visit frequency</a:t>
            </a:r>
            <a:endParaRPr b="1"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Promising (High-Value)</a:t>
            </a:r>
            <a:endParaRPr i="1"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Highest avg LTV premium treatment</a:t>
            </a:r>
            <a:endParaRPr sz="10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Do Not Lose </a:t>
            </a:r>
            <a:r>
              <a:rPr lang="en-US" sz="10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High-value customers gone inactive</a:t>
            </a:r>
            <a:endParaRPr sz="10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At Risk (High Value)</a:t>
            </a:r>
            <a:endParaRPr i="1"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Worth aggressive retention spending</a:t>
            </a:r>
            <a:endParaRPr sz="10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Potential Champions</a:t>
            </a:r>
            <a:endParaRPr i="1"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Low spend per visit despite high frequency - focus on monetization</a:t>
            </a:r>
            <a:endParaRPr sz="10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Bottom tier</a:t>
            </a:r>
            <a:endParaRPr i="1"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&lt;$1,600 per customer - minimize investment</a:t>
            </a:r>
            <a:endParaRPr sz="10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213" y="1318025"/>
            <a:ext cx="7613574" cy="422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5"/>
          <p:cNvSpPr/>
          <p:nvPr/>
        </p:nvSpPr>
        <p:spPr>
          <a:xfrm rot="5400000">
            <a:off x="568975" y="3833950"/>
            <a:ext cx="253500" cy="93300"/>
          </a:xfrm>
          <a:prstGeom prst="homePlate">
            <a:avLst>
              <a:gd fmla="val 50000" name="adj"/>
            </a:avLst>
          </a:prstGeom>
          <a:solidFill>
            <a:srgbClr val="1C7293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5"/>
          <p:cNvSpPr/>
          <p:nvPr/>
        </p:nvSpPr>
        <p:spPr>
          <a:xfrm rot="5400000">
            <a:off x="568975" y="3465921"/>
            <a:ext cx="253500" cy="93300"/>
          </a:xfrm>
          <a:prstGeom prst="homePlate">
            <a:avLst>
              <a:gd fmla="val 50000" name="adj"/>
            </a:avLst>
          </a:prstGeom>
          <a:solidFill>
            <a:srgbClr val="1C7293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5"/>
          <p:cNvSpPr/>
          <p:nvPr/>
        </p:nvSpPr>
        <p:spPr>
          <a:xfrm rot="5400000">
            <a:off x="568975" y="5307100"/>
            <a:ext cx="253500" cy="93300"/>
          </a:xfrm>
          <a:prstGeom prst="homePlate">
            <a:avLst>
              <a:gd fmla="val 50000" name="adj"/>
            </a:avLst>
          </a:prstGeom>
          <a:solidFill>
            <a:srgbClr val="1C7293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5"/>
          <p:cNvSpPr/>
          <p:nvPr/>
        </p:nvSpPr>
        <p:spPr>
          <a:xfrm rot="5400000">
            <a:off x="568975" y="2360800"/>
            <a:ext cx="253500" cy="93300"/>
          </a:xfrm>
          <a:prstGeom prst="homePlate">
            <a:avLst>
              <a:gd fmla="val 50000" name="adj"/>
            </a:avLst>
          </a:prstGeom>
          <a:solidFill>
            <a:srgbClr val="1C7293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5"/>
          <p:cNvSpPr txBox="1"/>
          <p:nvPr/>
        </p:nvSpPr>
        <p:spPr>
          <a:xfrm>
            <a:off x="457200" y="3657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RFM-Based Perks &amp; Engagement Strategy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36"/>
          <p:cNvGrpSpPr/>
          <p:nvPr/>
        </p:nvGrpSpPr>
        <p:grpSpPr>
          <a:xfrm>
            <a:off x="822840" y="1413019"/>
            <a:ext cx="7634640" cy="4031968"/>
            <a:chOff x="1156223" y="731936"/>
            <a:chExt cx="6955758" cy="3673440"/>
          </a:xfrm>
        </p:grpSpPr>
        <p:sp>
          <p:nvSpPr>
            <p:cNvPr id="486" name="Google Shape;486;p36"/>
            <p:cNvSpPr/>
            <p:nvPr/>
          </p:nvSpPr>
          <p:spPr>
            <a:xfrm>
              <a:off x="1156223" y="748037"/>
              <a:ext cx="1539600" cy="12978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6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87" name="Google Shape;487;p36"/>
            <p:cNvSpPr txBox="1"/>
            <p:nvPr/>
          </p:nvSpPr>
          <p:spPr>
            <a:xfrm>
              <a:off x="1156227" y="7480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01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488" name="Google Shape;488;p36"/>
            <p:cNvSpPr txBox="1"/>
            <p:nvPr/>
          </p:nvSpPr>
          <p:spPr>
            <a:xfrm>
              <a:off x="1156227" y="1085539"/>
              <a:ext cx="1539600" cy="46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Situation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1156227" y="2322561"/>
              <a:ext cx="1539600" cy="20715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56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90" name="Google Shape;490;p36"/>
            <p:cNvSpPr txBox="1"/>
            <p:nvPr/>
          </p:nvSpPr>
          <p:spPr>
            <a:xfrm>
              <a:off x="1156234" y="2333970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02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491" name="Google Shape;491;p36"/>
            <p:cNvSpPr txBox="1"/>
            <p:nvPr/>
          </p:nvSpPr>
          <p:spPr>
            <a:xfrm>
              <a:off x="1156227" y="3245839"/>
              <a:ext cx="15396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Task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2903702" y="1702714"/>
              <a:ext cx="1539600" cy="2691300"/>
            </a:xfrm>
            <a:prstGeom prst="roundRect">
              <a:avLst>
                <a:gd fmla="val 6689" name="adj"/>
              </a:avLst>
            </a:prstGeom>
            <a:solidFill>
              <a:schemeClr val="dk2"/>
            </a:solidFill>
            <a:ln cap="flat" cmpd="sng" w="10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93" name="Google Shape;493;p36"/>
            <p:cNvSpPr txBox="1"/>
            <p:nvPr/>
          </p:nvSpPr>
          <p:spPr>
            <a:xfrm>
              <a:off x="2907637" y="1702716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rgbClr val="FFFFFF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03</a:t>
              </a:r>
              <a:endParaRPr sz="1647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494" name="Google Shape;494;p36"/>
            <p:cNvSpPr txBox="1"/>
            <p:nvPr/>
          </p:nvSpPr>
          <p:spPr>
            <a:xfrm>
              <a:off x="2903677" y="2980139"/>
              <a:ext cx="1539600" cy="8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5"/>
                <a:buFont typeface="Arial"/>
                <a:buNone/>
              </a:pPr>
              <a:r>
                <a:rPr b="1" lang="en-US" sz="1647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Actions</a:t>
              </a:r>
              <a:endParaRPr b="1" sz="164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4651636" y="732511"/>
              <a:ext cx="1553059" cy="1329452"/>
            </a:xfrm>
            <a:custGeom>
              <a:rect b="b" l="l" r="r" t="t"/>
              <a:pathLst>
                <a:path extrusionOk="0" h="79087" w="92389">
                  <a:moveTo>
                    <a:pt x="5805" y="0"/>
                  </a:moveTo>
                  <a:lnTo>
                    <a:pt x="4596" y="121"/>
                  </a:lnTo>
                  <a:lnTo>
                    <a:pt x="3507" y="484"/>
                  </a:lnTo>
                  <a:lnTo>
                    <a:pt x="2540" y="1088"/>
                  </a:lnTo>
                  <a:lnTo>
                    <a:pt x="1693" y="1814"/>
                  </a:lnTo>
                  <a:lnTo>
                    <a:pt x="968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1" y="5804"/>
                  </a:lnTo>
                  <a:lnTo>
                    <a:pt x="1" y="73282"/>
                  </a:lnTo>
                  <a:lnTo>
                    <a:pt x="121" y="74491"/>
                  </a:lnTo>
                  <a:lnTo>
                    <a:pt x="484" y="75579"/>
                  </a:lnTo>
                  <a:lnTo>
                    <a:pt x="968" y="76547"/>
                  </a:lnTo>
                  <a:lnTo>
                    <a:pt x="1693" y="77393"/>
                  </a:lnTo>
                  <a:lnTo>
                    <a:pt x="2540" y="78119"/>
                  </a:lnTo>
                  <a:lnTo>
                    <a:pt x="3507" y="78602"/>
                  </a:lnTo>
                  <a:lnTo>
                    <a:pt x="4596" y="78965"/>
                  </a:lnTo>
                  <a:lnTo>
                    <a:pt x="5805" y="79086"/>
                  </a:lnTo>
                  <a:lnTo>
                    <a:pt x="86584" y="79086"/>
                  </a:lnTo>
                  <a:lnTo>
                    <a:pt x="87672" y="78965"/>
                  </a:lnTo>
                  <a:lnTo>
                    <a:pt x="88761" y="78602"/>
                  </a:lnTo>
                  <a:lnTo>
                    <a:pt x="89849" y="78119"/>
                  </a:lnTo>
                  <a:lnTo>
                    <a:pt x="90696" y="77393"/>
                  </a:lnTo>
                  <a:lnTo>
                    <a:pt x="91421" y="76547"/>
                  </a:lnTo>
                  <a:lnTo>
                    <a:pt x="91905" y="75579"/>
                  </a:lnTo>
                  <a:lnTo>
                    <a:pt x="92268" y="74491"/>
                  </a:lnTo>
                  <a:lnTo>
                    <a:pt x="92389" y="73282"/>
                  </a:lnTo>
                  <a:lnTo>
                    <a:pt x="92389" y="34827"/>
                  </a:lnTo>
                  <a:lnTo>
                    <a:pt x="4776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6"/>
            <p:cNvSpPr txBox="1"/>
            <p:nvPr/>
          </p:nvSpPr>
          <p:spPr>
            <a:xfrm>
              <a:off x="4653252" y="731939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04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497" name="Google Shape;497;p36"/>
            <p:cNvSpPr txBox="1"/>
            <p:nvPr/>
          </p:nvSpPr>
          <p:spPr>
            <a:xfrm>
              <a:off x="4651180" y="1404870"/>
              <a:ext cx="1553100" cy="463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Exploratory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Data Analysis 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36"/>
            <p:cNvSpPr/>
            <p:nvPr/>
          </p:nvSpPr>
          <p:spPr>
            <a:xfrm>
              <a:off x="5921900" y="737891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99" name="Google Shape;499;p36"/>
            <p:cNvSpPr/>
            <p:nvPr/>
          </p:nvSpPr>
          <p:spPr>
            <a:xfrm rot="8100000">
              <a:off x="5998817" y="906557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00" name="Google Shape;500;p36"/>
            <p:cNvSpPr/>
            <p:nvPr/>
          </p:nvSpPr>
          <p:spPr>
            <a:xfrm flipH="1" rot="-2700000">
              <a:off x="5954439" y="86609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501" name="Google Shape;501;p36"/>
            <p:cNvCxnSpPr/>
            <p:nvPr/>
          </p:nvCxnSpPr>
          <p:spPr>
            <a:xfrm flipH="1" rot="8100000">
              <a:off x="5955415" y="875131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2" name="Google Shape;502;p36"/>
            <p:cNvSpPr/>
            <p:nvPr/>
          </p:nvSpPr>
          <p:spPr>
            <a:xfrm>
              <a:off x="5476232" y="731936"/>
              <a:ext cx="750113" cy="585442"/>
            </a:xfrm>
            <a:custGeom>
              <a:rect b="b" l="l" r="r" t="t"/>
              <a:pathLst>
                <a:path extrusionOk="0" h="34827" w="44623">
                  <a:moveTo>
                    <a:pt x="44623" y="3482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503" name="Google Shape;503;p36"/>
            <p:cNvSpPr/>
            <p:nvPr/>
          </p:nvSpPr>
          <p:spPr>
            <a:xfrm>
              <a:off x="4663473" y="2333963"/>
              <a:ext cx="1551025" cy="2071412"/>
            </a:xfrm>
            <a:custGeom>
              <a:rect b="b" l="l" r="r" t="t"/>
              <a:pathLst>
                <a:path extrusionOk="0" h="123225" w="92268">
                  <a:moveTo>
                    <a:pt x="5805" y="0"/>
                  </a:moveTo>
                  <a:lnTo>
                    <a:pt x="4596" y="121"/>
                  </a:lnTo>
                  <a:lnTo>
                    <a:pt x="3508" y="363"/>
                  </a:lnTo>
                  <a:lnTo>
                    <a:pt x="2540" y="968"/>
                  </a:lnTo>
                  <a:lnTo>
                    <a:pt x="1694" y="1693"/>
                  </a:lnTo>
                  <a:lnTo>
                    <a:pt x="968" y="2540"/>
                  </a:lnTo>
                  <a:lnTo>
                    <a:pt x="364" y="3507"/>
                  </a:lnTo>
                  <a:lnTo>
                    <a:pt x="1" y="4596"/>
                  </a:lnTo>
                  <a:lnTo>
                    <a:pt x="1" y="5805"/>
                  </a:lnTo>
                  <a:lnTo>
                    <a:pt x="1" y="117420"/>
                  </a:lnTo>
                  <a:lnTo>
                    <a:pt x="1" y="118630"/>
                  </a:lnTo>
                  <a:lnTo>
                    <a:pt x="364" y="119718"/>
                  </a:lnTo>
                  <a:lnTo>
                    <a:pt x="968" y="120685"/>
                  </a:lnTo>
                  <a:lnTo>
                    <a:pt x="1694" y="121532"/>
                  </a:lnTo>
                  <a:lnTo>
                    <a:pt x="2540" y="122257"/>
                  </a:lnTo>
                  <a:lnTo>
                    <a:pt x="3508" y="122741"/>
                  </a:lnTo>
                  <a:lnTo>
                    <a:pt x="4596" y="123104"/>
                  </a:lnTo>
                  <a:lnTo>
                    <a:pt x="5805" y="123225"/>
                  </a:lnTo>
                  <a:lnTo>
                    <a:pt x="86464" y="123225"/>
                  </a:lnTo>
                  <a:lnTo>
                    <a:pt x="87673" y="123104"/>
                  </a:lnTo>
                  <a:lnTo>
                    <a:pt x="88761" y="122741"/>
                  </a:lnTo>
                  <a:lnTo>
                    <a:pt x="89729" y="122257"/>
                  </a:lnTo>
                  <a:lnTo>
                    <a:pt x="90575" y="121532"/>
                  </a:lnTo>
                  <a:lnTo>
                    <a:pt x="91301" y="120685"/>
                  </a:lnTo>
                  <a:lnTo>
                    <a:pt x="91905" y="119718"/>
                  </a:lnTo>
                  <a:lnTo>
                    <a:pt x="92147" y="118630"/>
                  </a:lnTo>
                  <a:lnTo>
                    <a:pt x="92268" y="117420"/>
                  </a:lnTo>
                  <a:lnTo>
                    <a:pt x="92268" y="34706"/>
                  </a:lnTo>
                  <a:lnTo>
                    <a:pt x="4764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504" name="Google Shape;504;p36"/>
            <p:cNvSpPr txBox="1"/>
            <p:nvPr/>
          </p:nvSpPr>
          <p:spPr>
            <a:xfrm>
              <a:off x="4663474" y="2333952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05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505" name="Google Shape;505;p36"/>
            <p:cNvSpPr txBox="1"/>
            <p:nvPr/>
          </p:nvSpPr>
          <p:spPr>
            <a:xfrm>
              <a:off x="4663477" y="3245839"/>
              <a:ext cx="15531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Customer Segmentation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5951888" y="2343205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507" name="Google Shape;507;p36"/>
            <p:cNvSpPr/>
            <p:nvPr/>
          </p:nvSpPr>
          <p:spPr>
            <a:xfrm rot="8100000">
              <a:off x="6028805" y="2511871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08" name="Google Shape;508;p36"/>
            <p:cNvSpPr/>
            <p:nvPr/>
          </p:nvSpPr>
          <p:spPr>
            <a:xfrm flipH="1" rot="-2700000">
              <a:off x="5984426" y="2471406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509" name="Google Shape;509;p36"/>
            <p:cNvCxnSpPr/>
            <p:nvPr/>
          </p:nvCxnSpPr>
          <p:spPr>
            <a:xfrm flipH="1" rot="8100000">
              <a:off x="5985402" y="2480445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0" name="Google Shape;510;p36"/>
            <p:cNvSpPr/>
            <p:nvPr/>
          </p:nvSpPr>
          <p:spPr>
            <a:xfrm>
              <a:off x="6434658" y="1713970"/>
              <a:ext cx="1677322" cy="2691399"/>
            </a:xfrm>
            <a:custGeom>
              <a:rect b="b" l="l" r="r" t="t"/>
              <a:pathLst>
                <a:path extrusionOk="0" h="160107" w="92389">
                  <a:moveTo>
                    <a:pt x="5804" y="0"/>
                  </a:moveTo>
                  <a:lnTo>
                    <a:pt x="4716" y="121"/>
                  </a:lnTo>
                  <a:lnTo>
                    <a:pt x="3628" y="484"/>
                  </a:lnTo>
                  <a:lnTo>
                    <a:pt x="2539" y="1088"/>
                  </a:lnTo>
                  <a:lnTo>
                    <a:pt x="1693" y="1814"/>
                  </a:lnTo>
                  <a:lnTo>
                    <a:pt x="967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0" y="5804"/>
                  </a:lnTo>
                  <a:lnTo>
                    <a:pt x="0" y="154303"/>
                  </a:lnTo>
                  <a:lnTo>
                    <a:pt x="121" y="155512"/>
                  </a:lnTo>
                  <a:lnTo>
                    <a:pt x="484" y="156600"/>
                  </a:lnTo>
                  <a:lnTo>
                    <a:pt x="967" y="157568"/>
                  </a:lnTo>
                  <a:lnTo>
                    <a:pt x="1693" y="158414"/>
                  </a:lnTo>
                  <a:lnTo>
                    <a:pt x="2539" y="159140"/>
                  </a:lnTo>
                  <a:lnTo>
                    <a:pt x="3628" y="159744"/>
                  </a:lnTo>
                  <a:lnTo>
                    <a:pt x="4716" y="159986"/>
                  </a:lnTo>
                  <a:lnTo>
                    <a:pt x="5804" y="160107"/>
                  </a:lnTo>
                  <a:lnTo>
                    <a:pt x="86584" y="160107"/>
                  </a:lnTo>
                  <a:lnTo>
                    <a:pt x="87793" y="159986"/>
                  </a:lnTo>
                  <a:lnTo>
                    <a:pt x="88881" y="159744"/>
                  </a:lnTo>
                  <a:lnTo>
                    <a:pt x="89849" y="159140"/>
                  </a:lnTo>
                  <a:lnTo>
                    <a:pt x="90695" y="158414"/>
                  </a:lnTo>
                  <a:lnTo>
                    <a:pt x="91421" y="157568"/>
                  </a:lnTo>
                  <a:lnTo>
                    <a:pt x="91904" y="156600"/>
                  </a:lnTo>
                  <a:lnTo>
                    <a:pt x="92267" y="155512"/>
                  </a:lnTo>
                  <a:lnTo>
                    <a:pt x="92388" y="154303"/>
                  </a:lnTo>
                  <a:lnTo>
                    <a:pt x="92388" y="34827"/>
                  </a:lnTo>
                  <a:lnTo>
                    <a:pt x="4776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511" name="Google Shape;511;p36"/>
            <p:cNvSpPr txBox="1"/>
            <p:nvPr/>
          </p:nvSpPr>
          <p:spPr>
            <a:xfrm>
              <a:off x="6434674" y="1713991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06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512" name="Google Shape;512;p36"/>
            <p:cNvSpPr txBox="1"/>
            <p:nvPr/>
          </p:nvSpPr>
          <p:spPr>
            <a:xfrm>
              <a:off x="6434681" y="3252053"/>
              <a:ext cx="16773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Recommendations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7728538" y="1691357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514" name="Google Shape;514;p36"/>
            <p:cNvSpPr/>
            <p:nvPr/>
          </p:nvSpPr>
          <p:spPr>
            <a:xfrm rot="8100000">
              <a:off x="7805455" y="1860023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15" name="Google Shape;515;p36"/>
            <p:cNvSpPr/>
            <p:nvPr/>
          </p:nvSpPr>
          <p:spPr>
            <a:xfrm flipH="1" rot="-2700000">
              <a:off x="7761076" y="1819558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516" name="Google Shape;516;p36"/>
            <p:cNvCxnSpPr/>
            <p:nvPr/>
          </p:nvCxnSpPr>
          <p:spPr>
            <a:xfrm flipH="1" rot="8100000">
              <a:off x="7762052" y="1828597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Google Shape;521;p37"/>
          <p:cNvGrpSpPr/>
          <p:nvPr/>
        </p:nvGrpSpPr>
        <p:grpSpPr>
          <a:xfrm>
            <a:off x="6616449" y="2466080"/>
            <a:ext cx="1841030" cy="2978899"/>
            <a:chOff x="6434658" y="1691357"/>
            <a:chExt cx="1677324" cy="2714012"/>
          </a:xfrm>
        </p:grpSpPr>
        <p:sp>
          <p:nvSpPr>
            <p:cNvPr id="522" name="Google Shape;522;p37"/>
            <p:cNvSpPr/>
            <p:nvPr/>
          </p:nvSpPr>
          <p:spPr>
            <a:xfrm>
              <a:off x="6434658" y="1713970"/>
              <a:ext cx="1677322" cy="2691399"/>
            </a:xfrm>
            <a:custGeom>
              <a:rect b="b" l="l" r="r" t="t"/>
              <a:pathLst>
                <a:path extrusionOk="0" h="160107" w="92389">
                  <a:moveTo>
                    <a:pt x="5804" y="0"/>
                  </a:moveTo>
                  <a:lnTo>
                    <a:pt x="4716" y="121"/>
                  </a:lnTo>
                  <a:lnTo>
                    <a:pt x="3628" y="484"/>
                  </a:lnTo>
                  <a:lnTo>
                    <a:pt x="2539" y="1088"/>
                  </a:lnTo>
                  <a:lnTo>
                    <a:pt x="1693" y="1814"/>
                  </a:lnTo>
                  <a:lnTo>
                    <a:pt x="967" y="2660"/>
                  </a:lnTo>
                  <a:lnTo>
                    <a:pt x="484" y="3628"/>
                  </a:lnTo>
                  <a:lnTo>
                    <a:pt x="121" y="4716"/>
                  </a:lnTo>
                  <a:lnTo>
                    <a:pt x="0" y="5804"/>
                  </a:lnTo>
                  <a:lnTo>
                    <a:pt x="0" y="154303"/>
                  </a:lnTo>
                  <a:lnTo>
                    <a:pt x="121" y="155512"/>
                  </a:lnTo>
                  <a:lnTo>
                    <a:pt x="484" y="156600"/>
                  </a:lnTo>
                  <a:lnTo>
                    <a:pt x="967" y="157568"/>
                  </a:lnTo>
                  <a:lnTo>
                    <a:pt x="1693" y="158414"/>
                  </a:lnTo>
                  <a:lnTo>
                    <a:pt x="2539" y="159140"/>
                  </a:lnTo>
                  <a:lnTo>
                    <a:pt x="3628" y="159744"/>
                  </a:lnTo>
                  <a:lnTo>
                    <a:pt x="4716" y="159986"/>
                  </a:lnTo>
                  <a:lnTo>
                    <a:pt x="5804" y="160107"/>
                  </a:lnTo>
                  <a:lnTo>
                    <a:pt x="86584" y="160107"/>
                  </a:lnTo>
                  <a:lnTo>
                    <a:pt x="87793" y="159986"/>
                  </a:lnTo>
                  <a:lnTo>
                    <a:pt x="88881" y="159744"/>
                  </a:lnTo>
                  <a:lnTo>
                    <a:pt x="89849" y="159140"/>
                  </a:lnTo>
                  <a:lnTo>
                    <a:pt x="90695" y="158414"/>
                  </a:lnTo>
                  <a:lnTo>
                    <a:pt x="91421" y="157568"/>
                  </a:lnTo>
                  <a:lnTo>
                    <a:pt x="91904" y="156600"/>
                  </a:lnTo>
                  <a:lnTo>
                    <a:pt x="92267" y="155512"/>
                  </a:lnTo>
                  <a:lnTo>
                    <a:pt x="92388" y="154303"/>
                  </a:lnTo>
                  <a:lnTo>
                    <a:pt x="92388" y="34827"/>
                  </a:lnTo>
                  <a:lnTo>
                    <a:pt x="47766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523" name="Google Shape;523;p37"/>
            <p:cNvSpPr txBox="1"/>
            <p:nvPr/>
          </p:nvSpPr>
          <p:spPr>
            <a:xfrm>
              <a:off x="6434674" y="1713991"/>
              <a:ext cx="3951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1026"/>
                <a:buNone/>
              </a:pPr>
              <a:r>
                <a:rPr lang="en-US" sz="1647">
                  <a:solidFill>
                    <a:schemeClr val="dk2"/>
                  </a:solidFill>
                  <a:latin typeface="Roboto Condensed Light"/>
                  <a:ea typeface="Roboto Condensed Light"/>
                  <a:cs typeface="Roboto Condensed Light"/>
                  <a:sym typeface="Roboto Condensed Light"/>
                </a:rPr>
                <a:t>06</a:t>
              </a:r>
              <a:endParaRPr sz="1647">
                <a:solidFill>
                  <a:schemeClr val="dk2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endParaRPr>
            </a:p>
          </p:txBody>
        </p:sp>
        <p:sp>
          <p:nvSpPr>
            <p:cNvPr id="524" name="Google Shape;524;p37"/>
            <p:cNvSpPr txBox="1"/>
            <p:nvPr/>
          </p:nvSpPr>
          <p:spPr>
            <a:xfrm>
              <a:off x="6434681" y="3252053"/>
              <a:ext cx="1677300" cy="62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0375" lIns="100375" spcFirstLastPara="1" rIns="100375" wrap="square" tIns="100375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755"/>
                <a:buNone/>
              </a:pPr>
              <a:r>
                <a:rPr b="1" lang="en-US" sz="1647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Recommendations</a:t>
              </a:r>
              <a:endParaRPr b="1" sz="1647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37"/>
            <p:cNvSpPr/>
            <p:nvPr/>
          </p:nvSpPr>
          <p:spPr>
            <a:xfrm>
              <a:off x="7728538" y="1691357"/>
              <a:ext cx="259200" cy="259200"/>
            </a:xfrm>
            <a:prstGeom prst="ellipse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7"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526" name="Google Shape;526;p37"/>
            <p:cNvSpPr/>
            <p:nvPr/>
          </p:nvSpPr>
          <p:spPr>
            <a:xfrm rot="8100000">
              <a:off x="7805455" y="1860023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7" name="Google Shape;527;p37"/>
            <p:cNvSpPr/>
            <p:nvPr/>
          </p:nvSpPr>
          <p:spPr>
            <a:xfrm flipH="1" rot="-2700000">
              <a:off x="7761076" y="1819558"/>
              <a:ext cx="60620" cy="60299"/>
            </a:xfrm>
            <a:custGeom>
              <a:rect b="b" l="l" r="r" t="t"/>
              <a:pathLst>
                <a:path extrusionOk="0" h="13059" w="8616">
                  <a:moveTo>
                    <a:pt x="8616" y="13059"/>
                  </a:moveTo>
                  <a:cubicBezTo>
                    <a:pt x="4277" y="10166"/>
                    <a:pt x="932" y="5131"/>
                    <a:pt x="0" y="0"/>
                  </a:cubicBezTo>
                </a:path>
              </a:pathLst>
            </a:cu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528" name="Google Shape;528;p37"/>
            <p:cNvCxnSpPr/>
            <p:nvPr/>
          </p:nvCxnSpPr>
          <p:spPr>
            <a:xfrm flipH="1" rot="8100000">
              <a:off x="7762052" y="1828597"/>
              <a:ext cx="185403" cy="849"/>
            </a:xfrm>
            <a:prstGeom prst="straightConnector1">
              <a:avLst/>
            </a:prstGeom>
            <a:noFill/>
            <a:ln cap="flat" cmpd="sng" w="104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8"/>
          <p:cNvSpPr txBox="1"/>
          <p:nvPr/>
        </p:nvSpPr>
        <p:spPr>
          <a:xfrm>
            <a:off x="457200" y="36576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Key Findings &amp; Strategic Implications</a:t>
            </a:r>
            <a:endParaRPr b="1" sz="16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8"/>
          <p:cNvSpPr/>
          <p:nvPr/>
        </p:nvSpPr>
        <p:spPr>
          <a:xfrm>
            <a:off x="457200" y="996290"/>
            <a:ext cx="8229600" cy="6858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8"/>
          <p:cNvSpPr txBox="1"/>
          <p:nvPr/>
        </p:nvSpPr>
        <p:spPr>
          <a:xfrm>
            <a:off x="640080" y="1078992"/>
            <a:ext cx="164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Potential </a:t>
            </a: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Champions</a:t>
            </a:r>
            <a:endParaRPr/>
          </a:p>
        </p:txBody>
      </p:sp>
      <p:sp>
        <p:nvSpPr>
          <p:cNvPr id="536" name="Google Shape;536;p38"/>
          <p:cNvSpPr txBox="1"/>
          <p:nvPr/>
        </p:nvSpPr>
        <p:spPr>
          <a:xfrm>
            <a:off x="640080" y="1343762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Can be monetised and moved to Champions segment by incentivising frequency -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VIP program, discount next 5 services, exclusive previews</a:t>
            </a:r>
            <a:endParaRPr/>
          </a:p>
        </p:txBody>
      </p:sp>
      <p:sp>
        <p:nvSpPr>
          <p:cNvPr id="537" name="Google Shape;537;p38"/>
          <p:cNvSpPr/>
          <p:nvPr/>
        </p:nvSpPr>
        <p:spPr>
          <a:xfrm>
            <a:off x="457200" y="1873723"/>
            <a:ext cx="8229600" cy="6858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8"/>
          <p:cNvSpPr txBox="1"/>
          <p:nvPr/>
        </p:nvSpPr>
        <p:spPr>
          <a:xfrm>
            <a:off x="640080" y="1946875"/>
            <a:ext cx="164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romising (High Value)</a:t>
            </a:r>
            <a:endParaRPr/>
          </a:p>
        </p:txBody>
      </p:sp>
      <p:sp>
        <p:nvSpPr>
          <p:cNvPr id="539" name="Google Shape;539;p38"/>
          <p:cNvSpPr txBox="1"/>
          <p:nvPr/>
        </p:nvSpPr>
        <p:spPr>
          <a:xfrm>
            <a:off x="640080" y="2221195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High potential, small </a:t>
            </a: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- Loyalty rewards, tiered benefits, early access to sales</a:t>
            </a:r>
            <a:endParaRPr sz="10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8"/>
          <p:cNvSpPr/>
          <p:nvPr/>
        </p:nvSpPr>
        <p:spPr>
          <a:xfrm>
            <a:off x="457200" y="2741606"/>
            <a:ext cx="8229600" cy="6858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8"/>
          <p:cNvSpPr txBox="1"/>
          <p:nvPr/>
        </p:nvSpPr>
        <p:spPr>
          <a:xfrm>
            <a:off x="640080" y="2814758"/>
            <a:ext cx="164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At Risk (High Value)</a:t>
            </a:r>
            <a:endParaRPr/>
          </a:p>
        </p:txBody>
      </p:sp>
      <p:sp>
        <p:nvSpPr>
          <p:cNvPr id="542" name="Google Shape;542;p38"/>
          <p:cNvSpPr txBox="1"/>
          <p:nvPr/>
        </p:nvSpPr>
        <p:spPr>
          <a:xfrm>
            <a:off x="640080" y="3089077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Immediate </a:t>
            </a: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of churn - Aggressive w</a:t>
            </a: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in-back campaigns, special discounts</a:t>
            </a: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to increase recency</a:t>
            </a:r>
            <a:endParaRPr/>
          </a:p>
        </p:txBody>
      </p:sp>
      <p:sp>
        <p:nvSpPr>
          <p:cNvPr id="543" name="Google Shape;543;p38"/>
          <p:cNvSpPr/>
          <p:nvPr/>
        </p:nvSpPr>
        <p:spPr>
          <a:xfrm>
            <a:off x="457200" y="3609463"/>
            <a:ext cx="8229600" cy="685800"/>
          </a:xfrm>
          <a:prstGeom prst="rect">
            <a:avLst/>
          </a:prstGeom>
          <a:solidFill>
            <a:srgbClr val="ECF0F1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8"/>
          <p:cNvSpPr txBox="1"/>
          <p:nvPr/>
        </p:nvSpPr>
        <p:spPr>
          <a:xfrm>
            <a:off x="640080" y="3682615"/>
            <a:ext cx="164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Need Attention</a:t>
            </a:r>
            <a:endParaRPr/>
          </a:p>
        </p:txBody>
      </p:sp>
      <p:sp>
        <p:nvSpPr>
          <p:cNvPr id="545" name="Google Shape;545;p38"/>
          <p:cNvSpPr txBox="1"/>
          <p:nvPr/>
        </p:nvSpPr>
        <p:spPr>
          <a:xfrm>
            <a:off x="640080" y="3956935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Center of LTV funnel - </a:t>
            </a: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Onboarding perks, first-booking incentives, educational content</a:t>
            </a:r>
            <a:endParaRPr/>
          </a:p>
        </p:txBody>
      </p:sp>
      <p:sp>
        <p:nvSpPr>
          <p:cNvPr id="546" name="Google Shape;546;p38"/>
          <p:cNvSpPr txBox="1"/>
          <p:nvPr/>
        </p:nvSpPr>
        <p:spPr>
          <a:xfrm>
            <a:off x="457200" y="5303520"/>
            <a:ext cx="8229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Next Steps: </a:t>
            </a:r>
            <a:endParaRPr i="1"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Finalise budget for each campaign</a:t>
            </a:r>
            <a:endParaRPr i="1"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Predictive analysis on potential impact of campaigns</a:t>
            </a:r>
            <a:endParaRPr i="1"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A\B Testing to implement segment-based campaigns and track KPIs by cohort</a:t>
            </a:r>
            <a:endParaRPr i="1" sz="1200">
              <a:solidFill>
                <a:srgbClr val="065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9"/>
          <p:cNvSpPr txBox="1"/>
          <p:nvPr/>
        </p:nvSpPr>
        <p:spPr>
          <a:xfrm>
            <a:off x="457200" y="320040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9"/>
          <p:cNvSpPr txBox="1"/>
          <p:nvPr/>
        </p:nvSpPr>
        <p:spPr>
          <a:xfrm>
            <a:off x="457200" y="2286000"/>
            <a:ext cx="822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9"/>
          <p:cNvSpPr txBox="1"/>
          <p:nvPr/>
        </p:nvSpPr>
        <p:spPr>
          <a:xfrm>
            <a:off x="457200" y="5029200"/>
            <a:ext cx="822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